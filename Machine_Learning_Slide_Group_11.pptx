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2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3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8"/>
  </p:notesMasterIdLst>
  <p:sldIdLst>
    <p:sldId id="256" r:id="rId2"/>
    <p:sldId id="258" r:id="rId3"/>
    <p:sldId id="261" r:id="rId4"/>
    <p:sldId id="257" r:id="rId5"/>
    <p:sldId id="314" r:id="rId6"/>
    <p:sldId id="333" r:id="rId7"/>
    <p:sldId id="306" r:id="rId8"/>
    <p:sldId id="334" r:id="rId9"/>
    <p:sldId id="307" r:id="rId10"/>
    <p:sldId id="308" r:id="rId11"/>
    <p:sldId id="335" r:id="rId12"/>
    <p:sldId id="309" r:id="rId13"/>
    <p:sldId id="315" r:id="rId14"/>
    <p:sldId id="311" r:id="rId15"/>
    <p:sldId id="341" r:id="rId16"/>
    <p:sldId id="312" r:id="rId17"/>
    <p:sldId id="317" r:id="rId18"/>
    <p:sldId id="340" r:id="rId19"/>
    <p:sldId id="320" r:id="rId20"/>
    <p:sldId id="319" r:id="rId21"/>
    <p:sldId id="321" r:id="rId22"/>
    <p:sldId id="322" r:id="rId23"/>
    <p:sldId id="323" r:id="rId24"/>
    <p:sldId id="324" r:id="rId25"/>
    <p:sldId id="325" r:id="rId26"/>
    <p:sldId id="318" r:id="rId27"/>
    <p:sldId id="330" r:id="rId28"/>
    <p:sldId id="326" r:id="rId29"/>
    <p:sldId id="327" r:id="rId30"/>
    <p:sldId id="337" r:id="rId31"/>
    <p:sldId id="328" r:id="rId32"/>
    <p:sldId id="332" r:id="rId33"/>
    <p:sldId id="338" r:id="rId34"/>
    <p:sldId id="339" r:id="rId35"/>
    <p:sldId id="336" r:id="rId36"/>
    <p:sldId id="331" r:id="rId3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39"/>
      <p:bold r:id="rId40"/>
      <p:italic r:id="rId41"/>
      <p:boldItalic r:id="rId42"/>
    </p:embeddedFont>
    <p:embeddedFont>
      <p:font typeface="Montserrat ExtraBold" panose="00000900000000000000" pitchFamily="2" charset="0"/>
      <p:bold r:id="rId43"/>
      <p:boldItalic r:id="rId44"/>
    </p:embeddedFont>
    <p:embeddedFont>
      <p:font typeface="Montserrat ExtraLight" panose="000003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40"/>
    <a:srgbClr val="001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AE7613-9113-4A95-8E20-C1F1D74075B2}">
  <a:tblStyle styleId="{36AE7613-9113-4A95-8E20-C1F1D74075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9:18:3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9:18:3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9:18:3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9:18:32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8E21C22B-22AE-E64F-47CE-C6C81CB5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FF9B7526-16FE-11D5-98B8-4C10B1D26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4F3F45D0-E98D-C34F-F66E-377045B69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39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0D12E53-3FB3-A018-2511-9E1605E0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3BD85ED0-4C79-9FD9-D1D2-21D9786A0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5DFA978E-B03C-9C33-AE06-5276545D2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818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2D4C47C-2D41-9737-6774-649B705D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0B9341A1-8A0D-E347-1A92-59D2CBA2F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92D74E70-9027-9E61-B500-4E4E6CC8B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375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31B46F9-0166-C366-6641-AA5F9FB1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CAE930A9-1863-0A91-1E6B-C80412536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38506D62-2DE7-A8FE-025C-F293C2F11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136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25DF954E-085E-D16C-7F80-DAA788A3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17C0D16C-F5A6-9EB0-D73A-C43943304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2D9FBC4C-8B67-E48D-6024-81D9E8750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439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9083EF4-1BF9-2E41-F0F8-C2F82220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4F30B583-3B1F-EF3B-16F2-97CEFCEC3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E43F6AF0-D0BF-1733-DB7F-40329D968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842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73D55DD-642F-EB8A-60D3-6B693C86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662028C6-1628-3712-1944-708F7E910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C60C1DED-1844-6ED4-967B-0653D0376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959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6CABC05-230A-D42D-F448-C3A7F920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84369F7F-AE4A-F909-E1B0-53EB505A8F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7874CACC-7B31-0645-3EF8-7F2F2E758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904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66CA5702-C9ED-C545-3D2E-DBE7217F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E31F3133-1503-891A-6A55-C25B02A5D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F5FB62A0-1968-8753-23F4-45CA4C70A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415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2479ECCD-2EF0-CCF2-CBB1-9FE9BC6E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BED69B1D-688A-3B67-EDA6-038DDE1D8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2F58B141-DB64-3C31-30C2-200A5033A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383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6DED3308-B8D8-72C3-AD3C-400204055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8B7E08AD-3334-73E9-5539-C940CECFB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1A1533E4-07C3-143F-E823-5CAE3567B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96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7711B8A-AC81-A10B-3246-4EBE46A3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6DEAC36E-BB99-B3DE-CA88-B5557349AE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ACE62F15-99C7-B797-C0E8-E29018416F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048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68CD55FC-AA77-CFD0-E999-7E998D05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7E6BEE97-0862-4E0F-A631-61BF6957B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A5703C88-C03E-F883-63BA-BC7C3291A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053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89E09519-0B25-BE4E-B860-F661DBC9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0F5A0174-F9D5-BADD-7AD4-CB6632241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4B20DC1F-FD18-0B1B-9383-A47E1EA86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744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9EB0565-1F1E-D31F-14C5-9BD3F010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5F704992-851B-7844-7E14-51EC17BE0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1DD0912A-D5A2-BBEE-DA5D-670B2ECAE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410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8C2A8146-CF46-8C44-B7D3-7134E735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7F6950BF-644A-859C-B9D0-38AD22FC4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94FE7BF0-5C56-4DFC-7C55-1E40C8906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922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E534C81-ECDB-3423-6BAD-1389C230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093B0DEE-D7A7-F9AC-DB75-B212486AA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1BFEF1EB-EB17-2073-23AC-93E9CA671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9061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740DD84-C6C5-23CC-7D4E-269B1A04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07885483-2C61-1255-E9BC-D4C0B36EF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5F39273F-D942-F4FE-B847-01EADF6AB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2390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2FE8C33-A029-CFDC-0F74-645D8728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966C615D-4091-C567-FA0D-09D70A885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8D634C80-E9BA-91B9-5FCC-A1A402293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7174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A7ED969-793F-7B2B-08F9-0B384272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E69C615E-5F0D-6D81-D523-AAC9EA529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07D2FDDB-967C-6D71-C945-84B028196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776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2A48EDC-801B-8EBC-EB97-04037FF9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D96ACB7F-4E52-B60D-DA93-F9CC44C82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AC352E9D-5562-1D25-BF89-CA8579970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5010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B8785FF3-6E8C-F252-9937-037BB80D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1799391C-B363-7927-5118-D9D596962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EB8E8016-0FE1-9BBF-2FC3-935AD6587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1545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B1B58601-F4AE-54D9-07F6-64E2254D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3B13741A-C97E-AB11-B90B-954929973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082912A2-C7D9-231E-431F-006022CE5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568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4AF8F0D-D453-3B02-06BD-95EB980A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8DC9EE71-2389-6BD8-2BC4-B3E54B7ED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3F42DE46-DD53-3DA7-C5A0-BB2BF7D1A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13737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04C90D8-DA9B-49C8-3B1A-E5B95134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4421994C-38DD-D65F-4ACD-9923533409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B932A778-FB89-AB4B-C7FD-8CC3DEE0E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54343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38E7CB8-B574-16B3-2B0D-30ABCF5D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32CC4AB0-96D0-DBCD-D3FB-F687C1CF5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AD779486-AD7D-9695-945B-A4BF033A1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3089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42A7FF5-76FC-4783-ED45-2A70222B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95D9CA4F-CD0A-CDB5-F516-46C5A31F0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D93F9532-51A8-3BA4-D6B5-28A216EF0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545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ECB8A2E-F70E-61CB-34AF-C1D52223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804C5939-12EB-6435-C85A-A99C74741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F61E5D44-5A70-2465-45B3-922A200C3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2475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DA09929-FB19-642F-5EC7-E21D3FFB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79AA9FF1-0ED0-4122-C413-5A26011A4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90B78895-2263-A868-CB6C-03F601EA1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9533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96A8FE5-1002-F9BD-2004-8AD65D1F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BBCEA7CF-97DD-2BC6-3040-3162209D5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8E4031D0-8294-9F08-C85B-F761B7AB85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1282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129E771-66D2-2B65-91FB-C67678BC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5CFEE62A-C101-C2FD-9507-BC340CDE0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28B2F353-C590-8EE6-1080-F27194168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69603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9079602-115F-0878-D1D5-0FEC94FE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>
            <a:extLst>
              <a:ext uri="{FF2B5EF4-FFF2-40B4-BE49-F238E27FC236}">
                <a16:creationId xmlns:a16="http://schemas.microsoft.com/office/drawing/2014/main" id="{E82B48F7-72C9-7D2C-4852-6EFC32B72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>
            <a:extLst>
              <a:ext uri="{FF2B5EF4-FFF2-40B4-BE49-F238E27FC236}">
                <a16:creationId xmlns:a16="http://schemas.microsoft.com/office/drawing/2014/main" id="{64E06104-DED8-B9F6-5EA4-A2F76A9AB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24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59" r:id="rId5"/>
    <p:sldLayoutId id="2147483660" r:id="rId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4v/absa-vlsp-2018/blob/main/datasets/vlsp2018_hote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ds4v/absa-vlsp-2018/blob/main/datasets/vlsp2018_hotel/3-VLSP2018-SA-Hotel-test.txt" TargetMode="External"/><Relationship Id="rId5" Type="http://schemas.openxmlformats.org/officeDocument/2006/relationships/hyperlink" Target="https://github.com/ds4v/absa-vlsp-2018/blob/main/datasets/vlsp2018_hotel/2-VLSP2018-SA-Hotel-dev.txt" TargetMode="External"/><Relationship Id="rId4" Type="http://schemas.openxmlformats.org/officeDocument/2006/relationships/hyperlink" Target="https://github.com/ds4v/absa-vlsp-2018/blob/main/datasets/vlsp2018_hotel/1-VLSP2018-SA-Hotel-train.tx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4v/absa-vlsp-2018/tree/main?tab=readme-ov-file#3-why-concat-each-aspectcategory-into-1-dense-layer-and-apply-binary_crossentrop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334388"/>
            <a:ext cx="6968100" cy="1101113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Aspect-based Sentiment Analysis for Vietnamese</a:t>
            </a:r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220384" y="2795092"/>
            <a:ext cx="3260700" cy="1446343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Group 11</a:t>
            </a:r>
            <a:br>
              <a:rPr lang="en-US" sz="20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br>
              <a:rPr lang="en-US" sz="18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Vu Hai Dang - 20225962</a:t>
            </a:r>
            <a:b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Nguyen Minh Khoi - 20226050</a:t>
            </a:r>
            <a:b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Le Dai Lam - 20225982</a:t>
            </a:r>
            <a:b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Pham Thanh Nam - 20225989</a:t>
            </a:r>
            <a:b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</a:br>
            <a:r>
              <a:rPr lang="en-US" sz="120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Bui Hoang Viet - 20226073</a:t>
            </a:r>
            <a:endParaRPr sz="1800" dirty="0">
              <a:solidFill>
                <a:schemeClr val="bg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>
            <a:cxnSpLocks/>
          </p:cNvCxnSpPr>
          <p:nvPr/>
        </p:nvCxnSpPr>
        <p:spPr>
          <a:xfrm>
            <a:off x="2175900" y="2504613"/>
            <a:ext cx="6968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96392" y="1549027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2534043" y="239390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Related work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4518403" y="239390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96389" y="239390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2534046" y="1549027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4518400" y="1549027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1031292" y="232448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3368946" y="232448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5353300" y="232448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181;p40">
            <a:extLst>
              <a:ext uri="{FF2B5EF4-FFF2-40B4-BE49-F238E27FC236}">
                <a16:creationId xmlns:a16="http://schemas.microsoft.com/office/drawing/2014/main" id="{8CC48F21-E861-889F-5CF7-799232ECB485}"/>
              </a:ext>
            </a:extLst>
          </p:cNvPr>
          <p:cNvSpPr txBox="1">
            <a:spLocks/>
          </p:cNvSpPr>
          <p:nvPr/>
        </p:nvSpPr>
        <p:spPr>
          <a:xfrm>
            <a:off x="6349448" y="2393902"/>
            <a:ext cx="2672102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Model Architecture</a:t>
            </a:r>
          </a:p>
        </p:txBody>
      </p:sp>
      <p:sp>
        <p:nvSpPr>
          <p:cNvPr id="9" name="Google Shape;186;p40">
            <a:extLst>
              <a:ext uri="{FF2B5EF4-FFF2-40B4-BE49-F238E27FC236}">
                <a16:creationId xmlns:a16="http://schemas.microsoft.com/office/drawing/2014/main" id="{0F00CF49-C9F5-CDC9-6494-5A5870C5E66D}"/>
              </a:ext>
            </a:extLst>
          </p:cNvPr>
          <p:cNvSpPr txBox="1">
            <a:spLocks/>
          </p:cNvSpPr>
          <p:nvPr/>
        </p:nvSpPr>
        <p:spPr>
          <a:xfrm>
            <a:off x="6651999" y="1549027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dirty="0"/>
              <a:t>04</a:t>
            </a:r>
            <a:endParaRPr lang="en" dirty="0"/>
          </a:p>
        </p:txBody>
      </p:sp>
      <p:cxnSp>
        <p:nvCxnSpPr>
          <p:cNvPr id="10" name="Google Shape;189;p40">
            <a:extLst>
              <a:ext uri="{FF2B5EF4-FFF2-40B4-BE49-F238E27FC236}">
                <a16:creationId xmlns:a16="http://schemas.microsoft.com/office/drawing/2014/main" id="{37B923F1-42ED-1F98-D68F-96354BACC87C}"/>
              </a:ext>
            </a:extLst>
          </p:cNvPr>
          <p:cNvCxnSpPr/>
          <p:nvPr/>
        </p:nvCxnSpPr>
        <p:spPr>
          <a:xfrm>
            <a:off x="7514609" y="232448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1" name="Google Shape;181;p40">
            <a:extLst>
              <a:ext uri="{FF2B5EF4-FFF2-40B4-BE49-F238E27FC236}">
                <a16:creationId xmlns:a16="http://schemas.microsoft.com/office/drawing/2014/main" id="{3170102C-ACFA-EF3C-DDEE-1C635AC3DD42}"/>
              </a:ext>
            </a:extLst>
          </p:cNvPr>
          <p:cNvSpPr txBox="1">
            <a:spLocks/>
          </p:cNvSpPr>
          <p:nvPr/>
        </p:nvSpPr>
        <p:spPr>
          <a:xfrm>
            <a:off x="1664500" y="3896190"/>
            <a:ext cx="2751466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Experiment &amp; Result</a:t>
            </a:r>
          </a:p>
        </p:txBody>
      </p:sp>
      <p:sp>
        <p:nvSpPr>
          <p:cNvPr id="12" name="Google Shape;186;p40">
            <a:extLst>
              <a:ext uri="{FF2B5EF4-FFF2-40B4-BE49-F238E27FC236}">
                <a16:creationId xmlns:a16="http://schemas.microsoft.com/office/drawing/2014/main" id="{983EFB8A-D5B2-B754-4CF2-76B4177490E0}"/>
              </a:ext>
            </a:extLst>
          </p:cNvPr>
          <p:cNvSpPr txBox="1">
            <a:spLocks/>
          </p:cNvSpPr>
          <p:nvPr/>
        </p:nvSpPr>
        <p:spPr>
          <a:xfrm>
            <a:off x="1985946" y="3069169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dirty="0"/>
              <a:t>05</a:t>
            </a:r>
            <a:endParaRPr lang="en" dirty="0"/>
          </a:p>
        </p:txBody>
      </p:sp>
      <p:cxnSp>
        <p:nvCxnSpPr>
          <p:cNvPr id="13" name="Google Shape;189;p40">
            <a:extLst>
              <a:ext uri="{FF2B5EF4-FFF2-40B4-BE49-F238E27FC236}">
                <a16:creationId xmlns:a16="http://schemas.microsoft.com/office/drawing/2014/main" id="{0C5EDB31-BEDB-033F-21BA-85D7FE8088E1}"/>
              </a:ext>
            </a:extLst>
          </p:cNvPr>
          <p:cNvCxnSpPr/>
          <p:nvPr/>
        </p:nvCxnSpPr>
        <p:spPr>
          <a:xfrm>
            <a:off x="2855487" y="3844629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Google Shape;181;p40">
            <a:extLst>
              <a:ext uri="{FF2B5EF4-FFF2-40B4-BE49-F238E27FC236}">
                <a16:creationId xmlns:a16="http://schemas.microsoft.com/office/drawing/2014/main" id="{61F8E159-FB1D-7AF8-71D0-A54DFE0F87DE}"/>
              </a:ext>
            </a:extLst>
          </p:cNvPr>
          <p:cNvSpPr txBox="1">
            <a:spLocks/>
          </p:cNvSpPr>
          <p:nvPr/>
        </p:nvSpPr>
        <p:spPr>
          <a:xfrm>
            <a:off x="4914975" y="3890298"/>
            <a:ext cx="2751466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Improvement</a:t>
            </a:r>
          </a:p>
        </p:txBody>
      </p:sp>
      <p:sp>
        <p:nvSpPr>
          <p:cNvPr id="4" name="Google Shape;186;p40">
            <a:extLst>
              <a:ext uri="{FF2B5EF4-FFF2-40B4-BE49-F238E27FC236}">
                <a16:creationId xmlns:a16="http://schemas.microsoft.com/office/drawing/2014/main" id="{2783AE5E-BFE6-F27E-D190-2473AEDB16DF}"/>
              </a:ext>
            </a:extLst>
          </p:cNvPr>
          <p:cNvSpPr txBox="1">
            <a:spLocks/>
          </p:cNvSpPr>
          <p:nvPr/>
        </p:nvSpPr>
        <p:spPr>
          <a:xfrm>
            <a:off x="5236421" y="3063277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dirty="0"/>
              <a:t>0</a:t>
            </a:r>
            <a:r>
              <a:rPr lang="en-US" dirty="0"/>
              <a:t>6</a:t>
            </a:r>
            <a:endParaRPr lang="en" dirty="0"/>
          </a:p>
        </p:txBody>
      </p:sp>
      <p:cxnSp>
        <p:nvCxnSpPr>
          <p:cNvPr id="5" name="Google Shape;189;p40">
            <a:extLst>
              <a:ext uri="{FF2B5EF4-FFF2-40B4-BE49-F238E27FC236}">
                <a16:creationId xmlns:a16="http://schemas.microsoft.com/office/drawing/2014/main" id="{A0046A24-128B-528D-5164-8C020135FB60}"/>
              </a:ext>
            </a:extLst>
          </p:cNvPr>
          <p:cNvCxnSpPr/>
          <p:nvPr/>
        </p:nvCxnSpPr>
        <p:spPr>
          <a:xfrm>
            <a:off x="6105962" y="383873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296221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" name="Google Shape;209;p43">
            <a:extLst>
              <a:ext uri="{FF2B5EF4-FFF2-40B4-BE49-F238E27FC236}">
                <a16:creationId xmlns:a16="http://schemas.microsoft.com/office/drawing/2014/main" id="{25DBC562-3F9A-C6BA-7D2B-2F8703ECCE35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495154" y="65284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Introduction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495154" y="1594243"/>
            <a:ext cx="8153692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This work aimed to solve the Aspect-based Sentiment Analysis (ABSA) problem for Vietnamese. Specifically, we focus on 2 sub-tasks of the Aspect Category Sentiment Analysis (ACSA):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b="1" dirty="0">
                <a:solidFill>
                  <a:srgbClr val="FFAB40"/>
                </a:solidFill>
              </a:rPr>
              <a:t>Aspect Category Detection (</a:t>
            </a:r>
            <a:r>
              <a:rPr lang="en-US" sz="1200" b="1" dirty="0" err="1">
                <a:solidFill>
                  <a:srgbClr val="FFAB40"/>
                </a:solidFill>
              </a:rPr>
              <a:t>ACD</a:t>
            </a:r>
            <a:r>
              <a:rPr lang="en-US" sz="1200" b="1" dirty="0">
                <a:solidFill>
                  <a:srgbClr val="FFAB40"/>
                </a:solidFill>
              </a:rPr>
              <a:t>): </a:t>
            </a:r>
            <a:r>
              <a:rPr lang="en-US" sz="1200" dirty="0"/>
              <a:t>Detect </a:t>
            </a:r>
            <a:r>
              <a:rPr lang="en-US" sz="1200" b="1" i="1" dirty="0" err="1">
                <a:latin typeface="+mj-lt"/>
              </a:rPr>
              <a:t>Aspect#Category</a:t>
            </a:r>
            <a:r>
              <a:rPr lang="en-US" sz="1200" b="1" i="1" dirty="0">
                <a:latin typeface="+mj-lt"/>
              </a:rPr>
              <a:t> </a:t>
            </a:r>
            <a:r>
              <a:rPr lang="en-US" sz="1200" dirty="0"/>
              <a:t>pairs in each review (e.g., </a:t>
            </a:r>
            <a:r>
              <a:rPr lang="en-US" sz="1200" i="1" dirty="0" err="1"/>
              <a:t>HOTEL#CLEANLINESS</a:t>
            </a:r>
            <a:r>
              <a:rPr lang="en-US" sz="1200" dirty="0"/>
              <a:t>, </a:t>
            </a:r>
            <a:r>
              <a:rPr lang="en-US" sz="1200" i="1" dirty="0" err="1"/>
              <a:t>RESTAURANT#PRICES</a:t>
            </a:r>
            <a:r>
              <a:rPr lang="en-US" sz="1200" dirty="0"/>
              <a:t>, </a:t>
            </a:r>
            <a:r>
              <a:rPr lang="en-US" sz="1200" i="1" dirty="0" err="1"/>
              <a:t>SERVICE#GENERAL</a:t>
            </a:r>
            <a:r>
              <a:rPr lang="en-US" sz="1200" dirty="0"/>
              <a:t>, etc.)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b="1" dirty="0">
                <a:solidFill>
                  <a:srgbClr val="FFAB40"/>
                </a:solidFill>
              </a:rPr>
              <a:t>Sentiment Polarity Classification (</a:t>
            </a:r>
            <a:r>
              <a:rPr lang="en-US" sz="1200" b="1" dirty="0" err="1">
                <a:solidFill>
                  <a:srgbClr val="FFAB40"/>
                </a:solidFill>
              </a:rPr>
              <a:t>SPC</a:t>
            </a:r>
            <a:r>
              <a:rPr lang="en-US" sz="1200" b="1" dirty="0">
                <a:solidFill>
                  <a:srgbClr val="FFAB40"/>
                </a:solidFill>
              </a:rPr>
              <a:t>): </a:t>
            </a:r>
            <a:r>
              <a:rPr lang="en-US" sz="1200" dirty="0"/>
              <a:t>Classify the Sentiment Polarity (</a:t>
            </a:r>
            <a:r>
              <a:rPr lang="en-US" sz="1200" i="1" dirty="0"/>
              <a:t>Positive</a:t>
            </a:r>
            <a:r>
              <a:rPr lang="en-US" sz="1200" dirty="0"/>
              <a:t>, </a:t>
            </a:r>
            <a:r>
              <a:rPr lang="en-US" sz="1200" i="1" dirty="0"/>
              <a:t>Negative</a:t>
            </a:r>
            <a:r>
              <a:rPr lang="en-US" sz="1200" dirty="0"/>
              <a:t>, </a:t>
            </a:r>
            <a:r>
              <a:rPr lang="en-US" sz="1200" i="1" dirty="0"/>
              <a:t>Neutral</a:t>
            </a:r>
            <a:r>
              <a:rPr lang="en-US" sz="1200" dirty="0"/>
              <a:t>) of each </a:t>
            </a:r>
            <a:r>
              <a:rPr lang="en-US" sz="1200" b="1" i="1" dirty="0" err="1">
                <a:latin typeface="+mj-lt"/>
              </a:rPr>
              <a:t>Aspect#Category</a:t>
            </a:r>
            <a:r>
              <a:rPr lang="en-US" sz="1200" b="1" i="1" dirty="0">
                <a:latin typeface="+mj-lt"/>
              </a:rPr>
              <a:t> </a:t>
            </a:r>
            <a:r>
              <a:rPr lang="en-US" sz="1200" dirty="0"/>
              <a:t>pair.</a:t>
            </a:r>
            <a:endParaRPr sz="1200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582854" y="6218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0A4DA63B-1FC8-CCF4-77E8-8F57D6F22FFB}"/>
              </a:ext>
            </a:extLst>
          </p:cNvPr>
          <p:cNvCxnSpPr>
            <a:cxnSpLocks/>
          </p:cNvCxnSpPr>
          <p:nvPr/>
        </p:nvCxnSpPr>
        <p:spPr>
          <a:xfrm>
            <a:off x="1834116" y="1537577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A989A0D2-0560-C724-7920-596660AA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A6356225-5F6D-386C-03C0-4822F10F2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618664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Related work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7C4405C0-410F-1CA5-0F7C-79FAD56CC3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AF06178E-D7E8-9B9A-641C-DF1E3AAE21F4}"/>
              </a:ext>
            </a:extLst>
          </p:cNvPr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171;p39">
            <a:extLst>
              <a:ext uri="{FF2B5EF4-FFF2-40B4-BE49-F238E27FC236}">
                <a16:creationId xmlns:a16="http://schemas.microsoft.com/office/drawing/2014/main" id="{4E3D596B-5A12-A3BB-78D4-D173148E2CA3}"/>
              </a:ext>
            </a:extLst>
          </p:cNvPr>
          <p:cNvSpPr txBox="1">
            <a:spLocks/>
          </p:cNvSpPr>
          <p:nvPr/>
        </p:nvSpPr>
        <p:spPr>
          <a:xfrm>
            <a:off x="6858724" y="3027181"/>
            <a:ext cx="1657955" cy="165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BERT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RoBERTa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bg1"/>
              </a:buClr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PhoBERT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200" dirty="0"/>
          </a:p>
          <a:p>
            <a:pPr marL="171450" indent="-171450">
              <a:lnSpc>
                <a:spcPct val="150000"/>
              </a:lnSpc>
            </a:pPr>
            <a:endParaRPr lang="en-US" sz="1200" dirty="0"/>
          </a:p>
        </p:txBody>
      </p:sp>
      <p:cxnSp>
        <p:nvCxnSpPr>
          <p:cNvPr id="5" name="Google Shape;209;p43">
            <a:extLst>
              <a:ext uri="{FF2B5EF4-FFF2-40B4-BE49-F238E27FC236}">
                <a16:creationId xmlns:a16="http://schemas.microsoft.com/office/drawing/2014/main" id="{ACE0320E-67F5-8E53-FDE5-63EDA8F4C1BF}"/>
              </a:ext>
            </a:extLst>
          </p:cNvPr>
          <p:cNvCxnSpPr>
            <a:cxnSpLocks/>
          </p:cNvCxnSpPr>
          <p:nvPr/>
        </p:nvCxnSpPr>
        <p:spPr>
          <a:xfrm flipH="1">
            <a:off x="6735726" y="2940522"/>
            <a:ext cx="24082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9" name="Google Shape;209;p43">
            <a:extLst>
              <a:ext uri="{FF2B5EF4-FFF2-40B4-BE49-F238E27FC236}">
                <a16:creationId xmlns:a16="http://schemas.microsoft.com/office/drawing/2014/main" id="{3DDB78EB-F762-13FA-EB2F-D1653FEC1E9A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7633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09438C9-0BF8-E813-A2B9-C3869DF2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32C8968C-BA3C-F774-BB2D-DFDE07CBC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BERT</a:t>
            </a:r>
            <a:endParaRPr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9E894D07-FD30-E6C3-76E2-0A69891E67CA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F5EC40B3-F0F4-135C-C063-4E190F6C553A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287136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7585B782-A254-D334-3D62-0CF51C04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A7846DC-CC13-2FB3-3E54-2115AC7B866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6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E07B3CEE-7187-289D-0866-3995B9628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65284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BERT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9040F037-9075-7A96-5DB0-C3BBAE870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1519233"/>
            <a:ext cx="5496937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BERT (Bidirectional Encoder Representations from Transformers)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vi-VN" sz="1200" dirty="0"/>
              <a:t>D</a:t>
            </a:r>
            <a:r>
              <a:rPr lang="en-US" sz="1200" dirty="0" err="1"/>
              <a:t>eveloped</a:t>
            </a:r>
            <a:r>
              <a:rPr lang="en-US" sz="1200" dirty="0"/>
              <a:t> by Google in 2018, revolutionized NLP. 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Its pre-training involves Masked Language Modeling and Next Sentence Prediction on vast text corpora.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BERT </a:t>
            </a:r>
            <a:r>
              <a:rPr lang="vi-VN" sz="1200" dirty="0"/>
              <a:t>can</a:t>
            </a:r>
            <a:r>
              <a:rPr lang="en-US" sz="1200" dirty="0"/>
              <a:t> learn rich language representations.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After pre-training, it can be fine-tuned for various downstream tasks like sentiment analysis or question.</a:t>
            </a: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09664C8D-8FED-489A-A744-75376FCC429F}"/>
              </a:ext>
            </a:extLst>
          </p:cNvPr>
          <p:cNvCxnSpPr/>
          <p:nvPr/>
        </p:nvCxnSpPr>
        <p:spPr>
          <a:xfrm>
            <a:off x="582854" y="6218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B4AB770-8CF0-0EE4-E4BD-ED4F2A97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827" y="0"/>
            <a:ext cx="3102173" cy="5143500"/>
          </a:xfrm>
          <a:prstGeom prst="rect">
            <a:avLst/>
          </a:prstGeom>
        </p:spPr>
      </p:pic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9B4F3552-5A9A-73D5-9018-320FA1A33DAA}"/>
              </a:ext>
            </a:extLst>
          </p:cNvPr>
          <p:cNvCxnSpPr>
            <a:cxnSpLocks/>
          </p:cNvCxnSpPr>
          <p:nvPr/>
        </p:nvCxnSpPr>
        <p:spPr>
          <a:xfrm>
            <a:off x="2296633" y="1404670"/>
            <a:ext cx="374519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7504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5F95A18D-1F0B-4E90-E3E3-A70CB88D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9E6165A3-7B4A-094B-1693-B6757A405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RoBERTa</a:t>
            </a:r>
            <a:endParaRPr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7E0BABDB-15E7-A2C4-8BDC-833394A74958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0903D4CC-00A3-4080-A727-13B1D1A525B2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19859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47256A9-C21A-F9E6-697D-A1BFB9A3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EF2B0A75-1693-7247-0955-A1CC2A662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65284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RoBERTa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8363BADD-8171-BA5F-D7DE-1D0DE1DB0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1806894"/>
            <a:ext cx="8153692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 err="1"/>
              <a:t>RoBERTa</a:t>
            </a:r>
            <a:r>
              <a:rPr lang="en-US" sz="1200" dirty="0"/>
              <a:t>, </a:t>
            </a:r>
            <a:r>
              <a:rPr lang="vi-VN" sz="1200" dirty="0"/>
              <a:t>(</a:t>
            </a:r>
            <a:r>
              <a:rPr lang="en-US" sz="1200" dirty="0"/>
              <a:t>a robustly optimized BERT </a:t>
            </a:r>
            <a:r>
              <a:rPr lang="vi-VN" sz="1200" dirty="0" err="1"/>
              <a:t>approach</a:t>
            </a:r>
            <a:r>
              <a:rPr lang="vi-VN" sz="1200" dirty="0"/>
              <a:t>)</a:t>
            </a:r>
            <a:r>
              <a:rPr lang="en-US" sz="1200" dirty="0"/>
              <a:t> by Facebook AI (2019), significantly improved upon </a:t>
            </a:r>
            <a:r>
              <a:rPr lang="en-US" sz="1200" dirty="0" err="1"/>
              <a:t>BERT's</a:t>
            </a:r>
            <a:r>
              <a:rPr lang="en-US" sz="1200" dirty="0"/>
              <a:t> performance.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It achieved this by training longer on substantially more data (</a:t>
            </a:r>
            <a:r>
              <a:rPr lang="en-US" sz="1200" dirty="0" err="1"/>
              <a:t>160GB</a:t>
            </a:r>
            <a:r>
              <a:rPr lang="en-US" sz="1200" dirty="0"/>
              <a:t> vs. 16GB), using larger batch sizes, and implementing dynamic masking. Crucially, </a:t>
            </a:r>
            <a:r>
              <a:rPr lang="en-US" sz="1200" dirty="0" err="1"/>
              <a:t>RoBERTa</a:t>
            </a:r>
            <a:r>
              <a:rPr lang="en-US" sz="1200" dirty="0"/>
              <a:t> also removed </a:t>
            </a:r>
            <a:r>
              <a:rPr lang="en-US" sz="1200" dirty="0" err="1"/>
              <a:t>BERT's</a:t>
            </a:r>
            <a:r>
              <a:rPr lang="en-US" sz="1200" dirty="0"/>
              <a:t> Next Sentence Prediction objective, focusing solely on the Masked Language Model task.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These refinements allowed </a:t>
            </a:r>
            <a:r>
              <a:rPr lang="en-US" sz="1200" dirty="0" err="1"/>
              <a:t>RoBERTa</a:t>
            </a:r>
            <a:r>
              <a:rPr lang="en-US" sz="1200" dirty="0"/>
              <a:t> to learn more generalized and robust language representations, consistently outperforming BERT on various NLP benchmarks and advancing the state of the art.</a:t>
            </a:r>
            <a:endParaRPr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006A9826-8715-C119-7009-70D57C2AE01D}"/>
              </a:ext>
            </a:extLst>
          </p:cNvPr>
          <p:cNvCxnSpPr/>
          <p:nvPr/>
        </p:nvCxnSpPr>
        <p:spPr>
          <a:xfrm>
            <a:off x="582854" y="6218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4" name="Google Shape;172;p39">
            <a:extLst>
              <a:ext uri="{FF2B5EF4-FFF2-40B4-BE49-F238E27FC236}">
                <a16:creationId xmlns:a16="http://schemas.microsoft.com/office/drawing/2014/main" id="{BBA346E6-85D8-8360-49B8-39E3BA814509}"/>
              </a:ext>
            </a:extLst>
          </p:cNvPr>
          <p:cNvCxnSpPr>
            <a:cxnSpLocks/>
          </p:cNvCxnSpPr>
          <p:nvPr/>
        </p:nvCxnSpPr>
        <p:spPr>
          <a:xfrm>
            <a:off x="1834116" y="1705885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34767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F3AD5C6-38C5-642F-56A3-232BC9A90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581FF792-DAB3-F334-9D48-065680A92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65284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RoBERTa</a:t>
            </a: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21E68C0A-4162-32F3-4810-79D73DF90113}"/>
              </a:ext>
            </a:extLst>
          </p:cNvPr>
          <p:cNvCxnSpPr>
            <a:cxnSpLocks/>
          </p:cNvCxnSpPr>
          <p:nvPr/>
        </p:nvCxnSpPr>
        <p:spPr>
          <a:xfrm>
            <a:off x="582854" y="6218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4098" name="Picture 2" descr="Large Language Models: RoBERTa - A Robustly Optimized BERT Approach |  Towards Data Science">
            <a:extLst>
              <a:ext uri="{FF2B5EF4-FFF2-40B4-BE49-F238E27FC236}">
                <a16:creationId xmlns:a16="http://schemas.microsoft.com/office/drawing/2014/main" id="{EE718670-1DC2-0817-D769-BD4F7404A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r="1905"/>
          <a:stretch/>
        </p:blipFill>
        <p:spPr bwMode="auto">
          <a:xfrm>
            <a:off x="3032052" y="1363735"/>
            <a:ext cx="5932967" cy="359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71;p39">
            <a:extLst>
              <a:ext uri="{FF2B5EF4-FFF2-40B4-BE49-F238E27FC236}">
                <a16:creationId xmlns:a16="http://schemas.microsoft.com/office/drawing/2014/main" id="{4FDE393B-532B-9BAA-4F75-75F4D4454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061" y="1214879"/>
            <a:ext cx="2899145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More Data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Longer Training and Larger Batches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Dynamic Masking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Removal of the Next Sentence Prediction (</a:t>
            </a:r>
            <a:r>
              <a:rPr lang="en-US" sz="1200" dirty="0" err="1"/>
              <a:t>NSP</a:t>
            </a:r>
            <a:r>
              <a:rPr lang="en-US" sz="1200" dirty="0"/>
              <a:t>) Objective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Byte-Pair Encoding (</a:t>
            </a:r>
            <a:r>
              <a:rPr lang="en-US" sz="1200" dirty="0" err="1"/>
              <a:t>BPE</a:t>
            </a:r>
            <a:r>
              <a:rPr lang="en-US" sz="1200" dirty="0"/>
              <a:t>) Tokenization</a:t>
            </a:r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888EE742-3532-D7F0-3D23-86AC38857BDC}"/>
              </a:ext>
            </a:extLst>
          </p:cNvPr>
          <p:cNvCxnSpPr>
            <a:cxnSpLocks/>
          </p:cNvCxnSpPr>
          <p:nvPr/>
        </p:nvCxnSpPr>
        <p:spPr>
          <a:xfrm>
            <a:off x="2813919" y="1451344"/>
            <a:ext cx="0" cy="327970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45202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D482B4A5-F3C6-C918-2BAA-D332241A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CEDF9BDA-B69E-AA48-E91F-FE9749A50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PhoBERT</a:t>
            </a:r>
            <a:endParaRPr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4923B3B0-8012-D38B-067B-80FC226909FA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6624A063-D156-EBC5-B3A6-B1F002D8F1F0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08102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BEDCCC2-2C47-FBE7-A3F3-3C0324EE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GitHub - VinAIResearch/PhoBERT: PhoBERT: Pre-trained language models for  Vietnamese (EMNLP-2020 Findings)">
            <a:extLst>
              <a:ext uri="{FF2B5EF4-FFF2-40B4-BE49-F238E27FC236}">
                <a16:creationId xmlns:a16="http://schemas.microsoft.com/office/drawing/2014/main" id="{96436C87-3805-8994-7009-B56814854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0" r="5966"/>
          <a:stretch/>
        </p:blipFill>
        <p:spPr bwMode="auto">
          <a:xfrm>
            <a:off x="181358" y="1450756"/>
            <a:ext cx="5372986" cy="303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FD39A070-34FD-C4E1-2DD4-1ED7CAA73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65284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PhoBERT</a:t>
            </a: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76D1C78F-3596-2A9F-147D-9A189C15D119}"/>
              </a:ext>
            </a:extLst>
          </p:cNvPr>
          <p:cNvCxnSpPr/>
          <p:nvPr/>
        </p:nvCxnSpPr>
        <p:spPr>
          <a:xfrm>
            <a:off x="582854" y="62184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Google Shape;171;p39">
            <a:extLst>
              <a:ext uri="{FF2B5EF4-FFF2-40B4-BE49-F238E27FC236}">
                <a16:creationId xmlns:a16="http://schemas.microsoft.com/office/drawing/2014/main" id="{909CCFDE-5866-FE1D-B730-C723B6D05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94180" y="1444853"/>
            <a:ext cx="3408299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vi-VN" sz="1200" dirty="0"/>
              <a:t>A</a:t>
            </a:r>
            <a:r>
              <a:rPr lang="en-US" sz="1200" dirty="0"/>
              <a:t> </a:t>
            </a:r>
            <a:r>
              <a:rPr lang="vi-VN" sz="1200" dirty="0" err="1"/>
              <a:t>SOTA</a:t>
            </a:r>
            <a:r>
              <a:rPr lang="en-US" sz="1200" dirty="0"/>
              <a:t> pre-trained language</a:t>
            </a:r>
            <a:r>
              <a:rPr lang="vi-VN" sz="1200" dirty="0"/>
              <a:t> </a:t>
            </a:r>
            <a:r>
              <a:rPr lang="en-US" sz="1200" dirty="0"/>
              <a:t>model specifically designed for the Vietnamese language. Released by </a:t>
            </a:r>
            <a:r>
              <a:rPr lang="en-US" sz="1200" dirty="0" err="1"/>
              <a:t>VinAI</a:t>
            </a:r>
            <a:r>
              <a:rPr lang="en-US" sz="1200" dirty="0"/>
              <a:t> </a:t>
            </a:r>
            <a:r>
              <a:rPr lang="vi-VN" sz="1200" dirty="0" err="1"/>
              <a:t>Research</a:t>
            </a:r>
            <a:r>
              <a:rPr lang="vi-VN" sz="1200" dirty="0"/>
              <a:t>.</a:t>
            </a:r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 err="1"/>
              <a:t>PhoBERT’s</a:t>
            </a:r>
            <a:r>
              <a:rPr lang="en-US" sz="1200" dirty="0"/>
              <a:t> architecture is based on </a:t>
            </a:r>
            <a:r>
              <a:rPr lang="en-US" sz="1200" dirty="0" err="1"/>
              <a:t>RoBERTa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vi-VN" sz="1200" dirty="0" err="1"/>
              <a:t>Train</a:t>
            </a:r>
            <a:r>
              <a:rPr lang="en-US" sz="1200" dirty="0"/>
              <a:t> on an enormous dataset of Vietnamese text, comprising approximately 20-</a:t>
            </a:r>
            <a:r>
              <a:rPr lang="en-US" sz="1200" dirty="0" err="1"/>
              <a:t>35GB</a:t>
            </a:r>
            <a:r>
              <a:rPr lang="en-US" sz="1200" dirty="0"/>
              <a:t> of raw text data.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endParaRPr lang="vi-VN" sz="1200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E7CA7CAE-E477-EEFE-B15E-CC62868CF740}"/>
              </a:ext>
            </a:extLst>
          </p:cNvPr>
          <p:cNvCxnSpPr>
            <a:cxnSpLocks/>
          </p:cNvCxnSpPr>
          <p:nvPr/>
        </p:nvCxnSpPr>
        <p:spPr>
          <a:xfrm>
            <a:off x="4572000" y="1335559"/>
            <a:ext cx="457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86572837-4D6C-CC95-4499-9D645F6F605E}"/>
              </a:ext>
            </a:extLst>
          </p:cNvPr>
          <p:cNvCxnSpPr>
            <a:cxnSpLocks/>
          </p:cNvCxnSpPr>
          <p:nvPr/>
        </p:nvCxnSpPr>
        <p:spPr>
          <a:xfrm>
            <a:off x="5672470" y="1594243"/>
            <a:ext cx="0" cy="317445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86537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8B0BB85D-67C5-563F-C03E-4247A886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0090BE50-60A8-742C-0532-B60F71A56D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618664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1A22F09D-30EC-3DA0-6FE2-027A96DE7D8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365750B7-85B6-3674-44B0-1A4D3D68C809}"/>
              </a:ext>
            </a:extLst>
          </p:cNvPr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Hộp Văn bản 33">
            <a:extLst>
              <a:ext uri="{FF2B5EF4-FFF2-40B4-BE49-F238E27FC236}">
                <a16:creationId xmlns:a16="http://schemas.microsoft.com/office/drawing/2014/main" id="{0AFC7758-82B9-C977-407E-12565D80E59B}"/>
              </a:ext>
            </a:extLst>
          </p:cNvPr>
          <p:cNvSpPr txBox="1"/>
          <p:nvPr/>
        </p:nvSpPr>
        <p:spPr>
          <a:xfrm>
            <a:off x="5544878" y="3439366"/>
            <a:ext cx="3195085" cy="9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Dataset</a:t>
            </a: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vi-VN" sz="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Preprocessing pipeline</a:t>
            </a:r>
            <a:endParaRPr lang="vi-VN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5" name="Google Shape;209;p43">
            <a:extLst>
              <a:ext uri="{FF2B5EF4-FFF2-40B4-BE49-F238E27FC236}">
                <a16:creationId xmlns:a16="http://schemas.microsoft.com/office/drawing/2014/main" id="{AA12DD2D-8E26-983D-FB0A-311104B5BFF0}"/>
              </a:ext>
            </a:extLst>
          </p:cNvPr>
          <p:cNvCxnSpPr>
            <a:cxnSpLocks/>
          </p:cNvCxnSpPr>
          <p:nvPr/>
        </p:nvCxnSpPr>
        <p:spPr>
          <a:xfrm flipH="1">
            <a:off x="5491716" y="3337024"/>
            <a:ext cx="36522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8" name="Google Shape;209;p43">
            <a:extLst>
              <a:ext uri="{FF2B5EF4-FFF2-40B4-BE49-F238E27FC236}">
                <a16:creationId xmlns:a16="http://schemas.microsoft.com/office/drawing/2014/main" id="{83E46222-DCC6-4AF8-9716-BFBCB6FE443E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46875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D99135C-DF26-3A20-D096-CA6C71BC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9A168511-C82A-E106-0EF8-F8855349D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7575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Dataset</a:t>
            </a: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424C664B-0558-FE6A-EEB9-69316C5918B0}"/>
              </a:ext>
            </a:extLst>
          </p:cNvPr>
          <p:cNvCxnSpPr/>
          <p:nvPr/>
        </p:nvCxnSpPr>
        <p:spPr>
          <a:xfrm>
            <a:off x="582854" y="344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B1291000-F799-413B-3A12-CAB30AB9B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71955"/>
              </p:ext>
            </p:extLst>
          </p:nvPr>
        </p:nvGraphicFramePr>
        <p:xfrm>
          <a:off x="952210" y="1058471"/>
          <a:ext cx="7239578" cy="1513279"/>
        </p:xfrm>
        <a:graphic>
          <a:graphicData uri="http://schemas.openxmlformats.org/drawingml/2006/table">
            <a:tbl>
              <a:tblPr>
                <a:tableStyleId>{36AE7613-9113-4A95-8E20-C1F1D74075B2}</a:tableStyleId>
              </a:tblPr>
              <a:tblGrid>
                <a:gridCol w="970396">
                  <a:extLst>
                    <a:ext uri="{9D8B030D-6E8A-4147-A177-3AD203B41FA5}">
                      <a16:colId xmlns:a16="http://schemas.microsoft.com/office/drawing/2014/main" val="2632841779"/>
                    </a:ext>
                  </a:extLst>
                </a:gridCol>
                <a:gridCol w="1177637">
                  <a:extLst>
                    <a:ext uri="{9D8B030D-6E8A-4147-A177-3AD203B41FA5}">
                      <a16:colId xmlns:a16="http://schemas.microsoft.com/office/drawing/2014/main" val="3903575276"/>
                    </a:ext>
                  </a:extLst>
                </a:gridCol>
                <a:gridCol w="1504125">
                  <a:extLst>
                    <a:ext uri="{9D8B030D-6E8A-4147-A177-3AD203B41FA5}">
                      <a16:colId xmlns:a16="http://schemas.microsoft.com/office/drawing/2014/main" val="3357414443"/>
                    </a:ext>
                  </a:extLst>
                </a:gridCol>
                <a:gridCol w="1217386">
                  <a:extLst>
                    <a:ext uri="{9D8B030D-6E8A-4147-A177-3AD203B41FA5}">
                      <a16:colId xmlns:a16="http://schemas.microsoft.com/office/drawing/2014/main" val="3626179482"/>
                    </a:ext>
                  </a:extLst>
                </a:gridCol>
                <a:gridCol w="1217386">
                  <a:extLst>
                    <a:ext uri="{9D8B030D-6E8A-4147-A177-3AD203B41FA5}">
                      <a16:colId xmlns:a16="http://schemas.microsoft.com/office/drawing/2014/main" val="2087381858"/>
                    </a:ext>
                  </a:extLst>
                </a:gridCol>
                <a:gridCol w="1152648">
                  <a:extLst>
                    <a:ext uri="{9D8B030D-6E8A-4147-A177-3AD203B41FA5}">
                      <a16:colId xmlns:a16="http://schemas.microsoft.com/office/drawing/2014/main" val="476889720"/>
                    </a:ext>
                  </a:extLst>
                </a:gridCol>
              </a:tblGrid>
              <a:tr h="701749">
                <a:tc>
                  <a:txBody>
                    <a:bodyPr/>
                    <a:lstStyle/>
                    <a:p>
                      <a:pPr algn="ctr"/>
                      <a:r>
                        <a:rPr lang="vi-VN" sz="1400" b="1" dirty="0">
                          <a:solidFill>
                            <a:schemeClr val="bg1"/>
                          </a:solidFill>
                          <a:effectLst/>
                        </a:rPr>
                        <a:t>D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omain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Dataset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No. Reviews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No. Aspect#</a:t>
                      </a:r>
                      <a:b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Cate,Polarity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Avg. Length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Vocab Size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1128586829"/>
                  </a:ext>
                </a:extLst>
              </a:tr>
              <a:tr h="248639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bg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Hotel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>
                          <a:solidFill>
                            <a:schemeClr val="bg1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Training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3,000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13,948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47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3,908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2409164604"/>
                  </a:ext>
                </a:extLst>
              </a:tr>
              <a:tr h="2486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>
                          <a:solidFill>
                            <a:schemeClr val="bg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2,000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7,111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2,745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594707356"/>
                  </a:ext>
                </a:extLst>
              </a:tr>
              <a:tr h="248639">
                <a:tc v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sng">
                          <a:solidFill>
                            <a:schemeClr val="bg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Test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600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2,584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</a:p>
                  </a:txBody>
                  <a:tcPr marL="61913" marR="61913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1,631</a:t>
                      </a:r>
                    </a:p>
                  </a:txBody>
                  <a:tcPr marL="61913" marR="61913" marT="28575" marB="28575" anchor="ctr"/>
                </a:tc>
                <a:extLst>
                  <a:ext uri="{0D108BD9-81ED-4DB2-BD59-A6C34878D82A}">
                    <a16:rowId xmlns:a16="http://schemas.microsoft.com/office/drawing/2014/main" val="3046402753"/>
                  </a:ext>
                </a:extLst>
              </a:tr>
            </a:tbl>
          </a:graphicData>
        </a:graphic>
      </p:graphicFrame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10FD5F3-5E58-882C-7C1F-38A99C5AC4A7}"/>
              </a:ext>
            </a:extLst>
          </p:cNvPr>
          <p:cNvSpPr txBox="1"/>
          <p:nvPr/>
        </p:nvSpPr>
        <p:spPr>
          <a:xfrm>
            <a:off x="465785" y="3101891"/>
            <a:ext cx="8212428" cy="184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The dataset primarily focuses on hotel reviews, a common and rich source of aspect-level sentiment. The core task defined for this dataset is Aspect Category Sentiment Analysis (ACSA). This</a:t>
            </a:r>
            <a:r>
              <a:rPr lang="vi-VN" sz="11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involves two main sub-problems:</a:t>
            </a:r>
            <a:endParaRPr lang="vi-VN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vi-VN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Aspect Category Detection: Identifying the entity (E) and attribute (A) pairs (e.g.,</a:t>
            </a:r>
            <a:r>
              <a:rPr lang="vi-VN" sz="11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</a:t>
            </a:r>
            <a:r>
              <a:rPr lang="en-US" sz="1100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ROOMS#DESIGN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","</a:t>
            </a:r>
            <a:r>
              <a:rPr lang="en-US" sz="1100" i="1" dirty="0" err="1">
                <a:solidFill>
                  <a:schemeClr val="bg1"/>
                </a:solidFill>
                <a:latin typeface="Montserrat" panose="00000500000000000000" pitchFamily="2" charset="0"/>
              </a:rPr>
              <a:t>SERVICE#GENERAL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")</a:t>
            </a:r>
            <a:endParaRPr lang="vi-VN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Sentiment Polarity Classification: Assigning one of three sentiment polarization labels ("</a:t>
            </a:r>
            <a:r>
              <a:rPr lang="en-US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Positive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", "</a:t>
            </a:r>
            <a:r>
              <a:rPr lang="en-US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Negative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", "</a:t>
            </a:r>
            <a:r>
              <a:rPr lang="en-US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Neutral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") to each detected </a:t>
            </a:r>
            <a:r>
              <a:rPr lang="vi-VN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Entity</a:t>
            </a:r>
            <a:r>
              <a:rPr lang="en-US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#</a:t>
            </a:r>
            <a:r>
              <a:rPr lang="vi-VN" sz="1100" i="1" dirty="0">
                <a:solidFill>
                  <a:schemeClr val="bg1"/>
                </a:solidFill>
                <a:latin typeface="Montserrat" panose="00000500000000000000" pitchFamily="2" charset="0"/>
              </a:rPr>
              <a:t>Attribute</a:t>
            </a:r>
            <a:r>
              <a:rPr lang="en-US" sz="1100" dirty="0">
                <a:solidFill>
                  <a:schemeClr val="bg1"/>
                </a:solidFill>
                <a:latin typeface="Montserrat" panose="00000500000000000000" pitchFamily="2" charset="0"/>
              </a:rPr>
              <a:t> pair.</a:t>
            </a:r>
          </a:p>
        </p:txBody>
      </p: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D2BE60AF-6375-DCC6-28BB-18B39488D7A4}"/>
              </a:ext>
            </a:extLst>
          </p:cNvPr>
          <p:cNvCxnSpPr>
            <a:cxnSpLocks/>
          </p:cNvCxnSpPr>
          <p:nvPr/>
        </p:nvCxnSpPr>
        <p:spPr>
          <a:xfrm>
            <a:off x="1834116" y="2861331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93987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14D8AC45-26DC-E1B4-FF8A-9200FD6AB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E19E5985-DAC2-FAD4-172E-B837DB795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75753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Dataset Overview</a:t>
            </a:r>
            <a:endParaRPr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9469C7AF-2505-9A76-7528-CC75D3F9CD40}"/>
              </a:ext>
            </a:extLst>
          </p:cNvPr>
          <p:cNvCxnSpPr/>
          <p:nvPr/>
        </p:nvCxnSpPr>
        <p:spPr>
          <a:xfrm>
            <a:off x="582854" y="344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026" name="Picture 2" descr="Không có mô tả.">
            <a:extLst>
              <a:ext uri="{FF2B5EF4-FFF2-40B4-BE49-F238E27FC236}">
                <a16:creationId xmlns:a16="http://schemas.microsoft.com/office/drawing/2014/main" id="{A7242FED-A767-DDC8-BE3C-5D8B9C5F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28" y="1171348"/>
            <a:ext cx="355282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hông có mô tả.">
            <a:extLst>
              <a:ext uri="{FF2B5EF4-FFF2-40B4-BE49-F238E27FC236}">
                <a16:creationId xmlns:a16="http://schemas.microsoft.com/office/drawing/2014/main" id="{2E334FC7-5684-E596-9387-02826D33D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71" y="1171348"/>
            <a:ext cx="466139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201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CF7BD02-927A-AFB6-0804-F900C652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1825098-426E-06E7-EC0D-5E754A5DB98B}"/>
              </a:ext>
            </a:extLst>
          </p:cNvPr>
          <p:cNvCxnSpPr/>
          <p:nvPr/>
        </p:nvCxnSpPr>
        <p:spPr>
          <a:xfrm>
            <a:off x="607181" y="375286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0" name="Google Shape;170;p39">
            <a:extLst>
              <a:ext uri="{FF2B5EF4-FFF2-40B4-BE49-F238E27FC236}">
                <a16:creationId xmlns:a16="http://schemas.microsoft.com/office/drawing/2014/main" id="{6DA063E2-E9CF-3696-D015-41FF67993908}"/>
              </a:ext>
            </a:extLst>
          </p:cNvPr>
          <p:cNvSpPr txBox="1">
            <a:spLocks/>
          </p:cNvSpPr>
          <p:nvPr/>
        </p:nvSpPr>
        <p:spPr>
          <a:xfrm>
            <a:off x="515936" y="375286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dirty="0"/>
              <a:t>Data preprocessing pi</a:t>
            </a:r>
            <a:r>
              <a:rPr lang="en-US" dirty="0"/>
              <a:t>p</a:t>
            </a:r>
            <a:r>
              <a:rPr lang="vi-VN" dirty="0"/>
              <a:t>eline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3CA697E-EE54-E6FA-BBEA-418E8571EF7A}"/>
              </a:ext>
            </a:extLst>
          </p:cNvPr>
          <p:cNvSpPr/>
          <p:nvPr/>
        </p:nvSpPr>
        <p:spPr>
          <a:xfrm>
            <a:off x="48492" y="1334016"/>
            <a:ext cx="1246909" cy="6788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latin typeface="Montserrat" panose="00000500000000000000" pitchFamily="2" charset="0"/>
              </a:rPr>
              <a:t>Remove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HTML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E3ACFB6-1369-F3F7-E318-4B4C32850D97}"/>
              </a:ext>
            </a:extLst>
          </p:cNvPr>
          <p:cNvSpPr/>
          <p:nvPr/>
        </p:nvSpPr>
        <p:spPr>
          <a:xfrm>
            <a:off x="1607127" y="1334016"/>
            <a:ext cx="1330035" cy="6788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latin typeface="Montserrat" panose="00000500000000000000" pitchFamily="2" charset="0"/>
              </a:rPr>
              <a:t>Standardize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Unicode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989090CB-453F-3B88-0173-B63DB23A47B7}"/>
              </a:ext>
            </a:extLst>
          </p:cNvPr>
          <p:cNvSpPr/>
          <p:nvPr/>
        </p:nvSpPr>
        <p:spPr>
          <a:xfrm>
            <a:off x="3297378" y="1333758"/>
            <a:ext cx="1246909" cy="6788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latin typeface="Montserrat" panose="00000500000000000000" pitchFamily="2" charset="0"/>
              </a:rPr>
              <a:t>Normalize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Acronym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93C5E171-DA4A-F523-0C23-4B0C16EED530}"/>
              </a:ext>
            </a:extLst>
          </p:cNvPr>
          <p:cNvSpPr/>
          <p:nvPr/>
        </p:nvSpPr>
        <p:spPr>
          <a:xfrm>
            <a:off x="4966845" y="1330553"/>
            <a:ext cx="1524000" cy="6788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Montserrat" panose="00000500000000000000" pitchFamily="2" charset="0"/>
              </a:rPr>
              <a:t>Word </a:t>
            </a:r>
            <a:r>
              <a:rPr lang="vi-VN" dirty="0" err="1">
                <a:latin typeface="Montserrat" panose="00000500000000000000" pitchFamily="2" charset="0"/>
              </a:rPr>
              <a:t>Segmentation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D29B7D3F-7145-E0AD-3EFE-61075ACFF07D}"/>
              </a:ext>
            </a:extLst>
          </p:cNvPr>
          <p:cNvSpPr/>
          <p:nvPr/>
        </p:nvSpPr>
        <p:spPr>
          <a:xfrm>
            <a:off x="6851072" y="1330552"/>
            <a:ext cx="2216728" cy="6788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latin typeface="Montserrat" panose="00000500000000000000" pitchFamily="2" charset="0"/>
              </a:rPr>
              <a:t>Remove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unnecessary</a:t>
            </a:r>
            <a:r>
              <a:rPr lang="vi-VN" dirty="0">
                <a:latin typeface="Montserrat" panose="00000500000000000000" pitchFamily="2" charset="0"/>
              </a:rPr>
              <a:t> </a:t>
            </a:r>
            <a:r>
              <a:rPr lang="vi-VN" dirty="0" err="1">
                <a:latin typeface="Montserrat" panose="00000500000000000000" pitchFamily="2" charset="0"/>
              </a:rPr>
              <a:t>character</a:t>
            </a:r>
            <a:endParaRPr lang="en-US" dirty="0">
              <a:latin typeface="Montserrat" panose="00000500000000000000" pitchFamily="2" charset="0"/>
            </a:endParaRPr>
          </a:p>
        </p:txBody>
      </p:sp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4C3DFB50-24DB-B068-36A3-D2C223EAABB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295401" y="1673453"/>
            <a:ext cx="31172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8C129B40-CA0F-20CD-D066-00C23C89E08A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937162" y="1673195"/>
            <a:ext cx="360216" cy="2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Đường kết nối Mũi tên Thẳng 16">
            <a:extLst>
              <a:ext uri="{FF2B5EF4-FFF2-40B4-BE49-F238E27FC236}">
                <a16:creationId xmlns:a16="http://schemas.microsoft.com/office/drawing/2014/main" id="{2840BA61-7F64-DB0C-81FA-B82A46349CB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4544287" y="1669990"/>
            <a:ext cx="422558" cy="32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16BC76AD-561E-F604-E2B4-E6B5B6B17C7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490845" y="1669989"/>
            <a:ext cx="360227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14860C0F-97E3-5E96-EC5B-A266065F629A}"/>
              </a:ext>
            </a:extLst>
          </p:cNvPr>
          <p:cNvSpPr txBox="1"/>
          <p:nvPr/>
        </p:nvSpPr>
        <p:spPr>
          <a:xfrm>
            <a:off x="169718" y="2515129"/>
            <a:ext cx="8832272" cy="2346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vi-VN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Delete</a:t>
            </a: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the HTML codes in the original dataset.</a:t>
            </a:r>
            <a:endParaRPr lang="vi-V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P</a:t>
            </a:r>
            <a:r>
              <a:rPr lang="en-US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erform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the charset standardization from Windows-1252 to UTF-8 and standardized common Vietnamese</a:t>
            </a: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vi-VN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dataset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  <a:endParaRPr lang="vi-V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D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o the segmentation for Vietnamese words before starting further processing, and we used the </a:t>
            </a:r>
            <a:r>
              <a:rPr lang="en-US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VnCoreNLP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toolkit to implement that step.</a:t>
            </a:r>
            <a:endParaRPr lang="vi-V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vi-VN" sz="1200" dirty="0" err="1">
                <a:solidFill>
                  <a:schemeClr val="bg1"/>
                </a:solidFill>
                <a:latin typeface="Montserrat" panose="00000500000000000000" pitchFamily="2" charset="0"/>
              </a:rPr>
              <a:t>Remove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unnecessary characters, this helps to reduce the number of feature dimensions for sentence,</a:t>
            </a: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increase the speed,</a:t>
            </a:r>
            <a:r>
              <a:rPr lang="vi-VN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avoids bad influence on the model results.</a:t>
            </a:r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46AA7668-6C86-3CE3-27E7-861F6A57F45E}"/>
              </a:ext>
            </a:extLst>
          </p:cNvPr>
          <p:cNvCxnSpPr>
            <a:cxnSpLocks/>
          </p:cNvCxnSpPr>
          <p:nvPr/>
        </p:nvCxnSpPr>
        <p:spPr>
          <a:xfrm>
            <a:off x="1834116" y="2297805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400194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ECE64147-FBE6-C665-B7D3-294B2F19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E02CD3DB-F0AB-6B0F-36B1-C4731513CF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618664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</a:t>
            </a:r>
            <a:br>
              <a:rPr lang="en-US" dirty="0"/>
            </a:br>
            <a:r>
              <a:rPr lang="en-US" dirty="0" err="1"/>
              <a:t>Architechture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C642EE79-0158-6331-6118-BE66FCFEC75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4B9F8CA2-3FC5-3F34-9A87-017C4FA9DC75}"/>
              </a:ext>
            </a:extLst>
          </p:cNvPr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Hộp Văn bản 33">
            <a:extLst>
              <a:ext uri="{FF2B5EF4-FFF2-40B4-BE49-F238E27FC236}">
                <a16:creationId xmlns:a16="http://schemas.microsoft.com/office/drawing/2014/main" id="{463322ED-503A-1006-1972-BE0F889B3855}"/>
              </a:ext>
            </a:extLst>
          </p:cNvPr>
          <p:cNvSpPr txBox="1"/>
          <p:nvPr/>
        </p:nvSpPr>
        <p:spPr>
          <a:xfrm>
            <a:off x="6602817" y="3397434"/>
            <a:ext cx="2464224" cy="1071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ACSA - v1</a:t>
            </a:r>
            <a:endParaRPr lang="vi-V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vi-VN" sz="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ACSA – v2</a:t>
            </a:r>
            <a:endParaRPr lang="vi-V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" name="Google Shape;209;p43">
            <a:extLst>
              <a:ext uri="{FF2B5EF4-FFF2-40B4-BE49-F238E27FC236}">
                <a16:creationId xmlns:a16="http://schemas.microsoft.com/office/drawing/2014/main" id="{8F64483D-FFB3-040D-BA92-55583E50AFA8}"/>
              </a:ext>
            </a:extLst>
          </p:cNvPr>
          <p:cNvCxnSpPr>
            <a:cxnSpLocks/>
          </p:cNvCxnSpPr>
          <p:nvPr/>
        </p:nvCxnSpPr>
        <p:spPr>
          <a:xfrm flipH="1">
            <a:off x="6496493" y="3255994"/>
            <a:ext cx="264750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8" name="Google Shape;209;p43">
            <a:extLst>
              <a:ext uri="{FF2B5EF4-FFF2-40B4-BE49-F238E27FC236}">
                <a16:creationId xmlns:a16="http://schemas.microsoft.com/office/drawing/2014/main" id="{58A42F01-DB8B-4829-E8BA-A62BE35427F1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7203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D09033FF-BB1F-A3A3-04DC-9CE94100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020E0CF7-E055-9125-0E2D-154F4DA1B9A2}"/>
              </a:ext>
            </a:extLst>
          </p:cNvPr>
          <p:cNvCxnSpPr>
            <a:cxnSpLocks/>
          </p:cNvCxnSpPr>
          <p:nvPr/>
        </p:nvCxnSpPr>
        <p:spPr>
          <a:xfrm>
            <a:off x="3280144" y="4616924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131B78F5-699B-D66D-042F-B2D3499BB8CA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6362385-AF32-B869-F0F9-1DE23E47C268}"/>
              </a:ext>
            </a:extLst>
          </p:cNvPr>
          <p:cNvSpPr txBox="1"/>
          <p:nvPr/>
        </p:nvSpPr>
        <p:spPr>
          <a:xfrm>
            <a:off x="723014" y="1729745"/>
            <a:ext cx="7869324" cy="263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We implemented end-to-end models with the same architecture in two approaches: Multi-task and Multi-task with Multibranch to handle both ACD and SPC task simultaneously using </a:t>
            </a:r>
            <a:r>
              <a:rPr lang="en-US" sz="1600" dirty="0" err="1">
                <a:solidFill>
                  <a:schemeClr val="bg1"/>
                </a:solidFill>
                <a:latin typeface="Montserrat" panose="00000500000000000000" pitchFamily="2" charset="0"/>
              </a:rPr>
              <a:t>PhoBERTbase</a:t>
            </a: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 as a pre-trained language model for Vietnamese.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Based on the original BERT paper, the model achieved the best results when concatenating the last four layers of BERT together.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D35A6-6DB2-A775-B4F0-749156761A9E}"/>
              </a:ext>
            </a:extLst>
          </p:cNvPr>
          <p:cNvSpPr txBox="1"/>
          <p:nvPr/>
        </p:nvSpPr>
        <p:spPr>
          <a:xfrm>
            <a:off x="908957" y="252550"/>
            <a:ext cx="4633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/>
                <a:sym typeface="Montserrat ExtraBold"/>
              </a:rPr>
              <a:t>Model</a:t>
            </a:r>
            <a:b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/>
                <a:sym typeface="Montserrat ExtraBold"/>
              </a:rPr>
            </a:b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/>
                <a:sym typeface="Montserrat ExtraBold"/>
              </a:rPr>
              <a:t>Architechture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04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4D463F6-1FB5-3BBD-C550-D94C66B8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E42C60CF-62FE-DF29-86CB-D3FFD6895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ASCA – v1</a:t>
            </a:r>
            <a:br>
              <a:rPr lang="en-US" sz="3200" dirty="0"/>
            </a:br>
            <a:r>
              <a:rPr lang="en-US" sz="3200" dirty="0"/>
              <a:t>Multi-task Approach</a:t>
            </a:r>
            <a:endParaRPr sz="3200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4ED6F343-81B2-EF1A-D7A5-3991EAA68E24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E0442AD4-5BCA-10B9-C64D-C95A02411EE4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50460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11D73E7-17B8-5D26-A8FC-0BB290B3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848B123F-80EA-86EC-B7C2-56F01167C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ASCA – v1</a:t>
            </a:r>
            <a:br>
              <a:rPr lang="en-US" dirty="0"/>
            </a:br>
            <a:r>
              <a:rPr lang="en-US" sz="1600" dirty="0"/>
              <a:t>Multi-task Approach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EF99582B-21EC-76E0-5B84-BA46E0A91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3815072"/>
            <a:ext cx="8335186" cy="10317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model is constructed with the output as a list of C one-hot vectors, where C is the number of aspects present in the dataset used.</a:t>
            </a:r>
            <a:r>
              <a:rPr lang="vi-VN" sz="1200" dirty="0"/>
              <a:t> </a:t>
            </a:r>
            <a:r>
              <a:rPr lang="en-US" dirty="0"/>
              <a:t> </a:t>
            </a:r>
            <a:endParaRPr lang="vi-VN" dirty="0"/>
          </a:p>
          <a:p>
            <a:pPr marL="171450" indent="-171450">
              <a:lnSpc>
                <a:spcPct val="150000"/>
              </a:lnSpc>
            </a:pPr>
            <a:r>
              <a:rPr lang="vi-VN" dirty="0"/>
              <a:t>W</a:t>
            </a:r>
            <a:r>
              <a:rPr lang="en-US" dirty="0"/>
              <a:t>e will not simply feedforward the learned feature to each </a:t>
            </a:r>
            <a:r>
              <a:rPr lang="en-US" b="1" dirty="0"/>
              <a:t>Dense</a:t>
            </a:r>
            <a:r>
              <a:rPr lang="en-US" dirty="0"/>
              <a:t> layer one-by-one. Instead, we will </a:t>
            </a:r>
            <a:r>
              <a:rPr lang="en-US" u="sng" dirty="0">
                <a:hlinkClick r:id="rId3"/>
              </a:rPr>
              <a:t>concatenate them into a single Dense</a:t>
            </a:r>
            <a:r>
              <a:rPr lang="en-US" dirty="0"/>
              <a:t> l</a:t>
            </a:r>
            <a:endParaRPr lang="vi-VN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E40AA9A7-92D2-E1EF-5F02-840038404CB2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026" name="Picture 2" descr="Không có mô tả.">
            <a:extLst>
              <a:ext uri="{FF2B5EF4-FFF2-40B4-BE49-F238E27FC236}">
                <a16:creationId xmlns:a16="http://schemas.microsoft.com/office/drawing/2014/main" id="{2A5841AD-41DA-514F-8715-EFC81E353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7" y="1201479"/>
            <a:ext cx="7742832" cy="23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8148FB0E-9F33-1DAE-1CBD-D03737AC085A}"/>
              </a:ext>
            </a:extLst>
          </p:cNvPr>
          <p:cNvCxnSpPr>
            <a:cxnSpLocks/>
          </p:cNvCxnSpPr>
          <p:nvPr/>
        </p:nvCxnSpPr>
        <p:spPr>
          <a:xfrm>
            <a:off x="1834116" y="3685354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872850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43BFC22-3032-5B22-5829-A86DB4C7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D688FC42-C485-40DD-1AD7-D39037A46F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ASCA – v1</a:t>
            </a:r>
            <a:br>
              <a:rPr lang="en-US" dirty="0"/>
            </a:br>
            <a:r>
              <a:rPr lang="en-US" sz="1600" dirty="0"/>
              <a:t>Multi-task Approach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7261251D-5A29-EC63-3AF7-E2B7AA2BD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3290" y="3942021"/>
            <a:ext cx="8335186" cy="10317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Each vector has 4 components: </a:t>
            </a:r>
            <a:r>
              <a:rPr lang="en-US" sz="1200" i="1" dirty="0"/>
              <a:t>Positive</a:t>
            </a:r>
            <a:r>
              <a:rPr lang="en-US" sz="1200" dirty="0"/>
              <a:t>, </a:t>
            </a:r>
            <a:r>
              <a:rPr lang="en-US" sz="1200" i="1" dirty="0"/>
              <a:t>Negative</a:t>
            </a:r>
            <a:r>
              <a:rPr lang="en-US" sz="1200" dirty="0"/>
              <a:t>, </a:t>
            </a:r>
            <a:r>
              <a:rPr lang="en-US" sz="1200" i="1" dirty="0"/>
              <a:t>Neutral</a:t>
            </a:r>
            <a:r>
              <a:rPr lang="en-US" sz="1200" dirty="0"/>
              <a:t>, </a:t>
            </a:r>
            <a:r>
              <a:rPr lang="en-US" sz="1200" i="1" dirty="0"/>
              <a:t>None.</a:t>
            </a:r>
            <a:r>
              <a:rPr lang="en-US" sz="1200" dirty="0"/>
              <a:t> 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If a label exists, its corresponding component is set to 1; otherwise, it is 0.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C2781728-634B-F066-2FA9-27E8F49C731C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026" name="Picture 2" descr="Không có mô tả.">
            <a:extLst>
              <a:ext uri="{FF2B5EF4-FFF2-40B4-BE49-F238E27FC236}">
                <a16:creationId xmlns:a16="http://schemas.microsoft.com/office/drawing/2014/main" id="{5878AA99-D4AF-32BC-5854-FFE75EC9A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7" y="1393856"/>
            <a:ext cx="7742832" cy="233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343DBEA8-5A3A-58A6-6F50-FD56413210C2}"/>
              </a:ext>
            </a:extLst>
          </p:cNvPr>
          <p:cNvCxnSpPr>
            <a:cxnSpLocks/>
          </p:cNvCxnSpPr>
          <p:nvPr/>
        </p:nvCxnSpPr>
        <p:spPr>
          <a:xfrm>
            <a:off x="1834116" y="3866782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17761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9F02162-E4A7-18C6-FCB7-CBE015BE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004CA53-293C-1CE5-EDC9-9D731E5EB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ASCA – v1</a:t>
            </a:r>
            <a:br>
              <a:rPr lang="en-US" dirty="0"/>
            </a:br>
            <a:r>
              <a:rPr lang="en-US" sz="1600" dirty="0"/>
              <a:t>Multi-task Approach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B0015851-3772-2BD1-8333-9A09A616C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3418115"/>
            <a:ext cx="8335186" cy="1395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We use </a:t>
            </a:r>
            <a:r>
              <a:rPr lang="en-US" sz="1200" dirty="0" err="1"/>
              <a:t>Softmax</a:t>
            </a:r>
            <a:r>
              <a:rPr lang="en-US" sz="1200" dirty="0"/>
              <a:t> function because the key issue here is that the polarities within an Aspect# Category are not entirely independent. For example: If the Aspect# Category is strongly Positive, it's less likely to be Negative or Neutral.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The Concatenation mixes the independent Aspect# Category, Polarity information and allows the network to learn complex/shared relationships between them.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63AED8F9-8004-6A24-2902-4C5C260147DA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026" name="Picture 2" descr="Không có mô tả.">
            <a:extLst>
              <a:ext uri="{FF2B5EF4-FFF2-40B4-BE49-F238E27FC236}">
                <a16:creationId xmlns:a16="http://schemas.microsoft.com/office/drawing/2014/main" id="{9270B62A-50FC-7972-C110-72662E4CC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109" y="1175543"/>
            <a:ext cx="6569276" cy="197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D8AEF455-5A1A-DA6E-952E-06CCAB3F2169}"/>
              </a:ext>
            </a:extLst>
          </p:cNvPr>
          <p:cNvCxnSpPr>
            <a:cxnSpLocks/>
          </p:cNvCxnSpPr>
          <p:nvPr/>
        </p:nvCxnSpPr>
        <p:spPr>
          <a:xfrm>
            <a:off x="1834116" y="3286212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041839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B8B95798-B502-1784-470A-B0C2DE4A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54683328-2954-4986-A630-9D91B09F5A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ASCA – v2</a:t>
            </a:r>
            <a:br>
              <a:rPr lang="en-US" sz="3200" b="1" dirty="0"/>
            </a:br>
            <a:r>
              <a:rPr lang="en-US" sz="2000" b="1" dirty="0"/>
              <a:t>Multi-task with Multi-branch Approach</a:t>
            </a:r>
            <a:endParaRPr sz="3200" b="1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CD76783C-1909-FBDA-8748-3F2BA1D6DFE0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F2F69594-5DC3-2EEE-3F78-C87450DD2D15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67D043-1BDE-7C88-EAEC-4AAF7A3C1876}"/>
                  </a:ext>
                </a:extLst>
              </p14:cNvPr>
              <p14:cNvContentPartPr/>
              <p14:nvPr/>
            </p14:nvContentPartPr>
            <p14:xfrm>
              <a:off x="4603923" y="273759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67D043-1BDE-7C88-EAEC-4AAF7A3C18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7803" y="27314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134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08D2B16-A829-7D49-6237-1097AEDB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3FA1C11C-C1FF-45B9-FB81-2C6C1BCE41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ASCA – v2</a:t>
            </a:r>
            <a:br>
              <a:rPr lang="en-US" dirty="0"/>
            </a:br>
            <a:r>
              <a:rPr lang="en-US" sz="1600" dirty="0"/>
              <a:t>Multi-task with Multi-branch Approach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8DB12D81-97EB-AFC5-9361-2C8D8CAF5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3632420"/>
            <a:ext cx="8335186" cy="10317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Differs from ASCA – v1: branches into multiple sub-models using C Dense layers</a:t>
            </a:r>
            <a:r>
              <a:rPr lang="vi-VN" sz="1200" dirty="0"/>
              <a:t> </a:t>
            </a:r>
            <a:r>
              <a:rPr lang="en-US" sz="1200" dirty="0"/>
              <a:t>(34 for </a:t>
            </a:r>
            <a:r>
              <a:rPr lang="en-US" sz="1200" b="1" dirty="0"/>
              <a:t>Hotel</a:t>
            </a:r>
            <a:r>
              <a:rPr lang="vi-VN" sz="1200" dirty="0"/>
              <a:t> </a:t>
            </a:r>
            <a:r>
              <a:rPr lang="en-US" sz="1200" dirty="0"/>
              <a:t>and 12 for </a:t>
            </a:r>
            <a:r>
              <a:rPr lang="en-US" sz="1200" b="1" dirty="0"/>
              <a:t>Restaurant</a:t>
            </a:r>
            <a:r>
              <a:rPr lang="en-US" sz="1200" dirty="0"/>
              <a:t>), without concatenating them into one</a:t>
            </a:r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Each Dense layer predicts its corresponding task independently. </a:t>
            </a:r>
            <a:r>
              <a:rPr lang="vi-VN" sz="1200" dirty="0"/>
              <a:t>Therefore, </a:t>
            </a:r>
            <a:r>
              <a:rPr lang="vi-VN" dirty="0"/>
              <a:t>e</a:t>
            </a:r>
            <a:r>
              <a:rPr lang="en-US" dirty="0"/>
              <a:t>ach model will predict each task </a:t>
            </a:r>
            <a:r>
              <a:rPr lang="en-US" i="1" dirty="0"/>
              <a:t>independently</a:t>
            </a:r>
            <a:r>
              <a:rPr lang="en-US" dirty="0"/>
              <a:t>, not sharing parameters between them.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30509F16-AD4D-D870-9755-C4ABE6EE341F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BB2BCB8E-D78C-EADE-24AC-170ED471D7FE}"/>
              </a:ext>
            </a:extLst>
          </p:cNvPr>
          <p:cNvCxnSpPr>
            <a:cxnSpLocks/>
          </p:cNvCxnSpPr>
          <p:nvPr/>
        </p:nvCxnSpPr>
        <p:spPr>
          <a:xfrm>
            <a:off x="1834116" y="3554725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BE5C048-A2C4-D28F-7E71-31778FBB8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53" y="1271215"/>
            <a:ext cx="6378493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75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7D04237-9ECF-5325-66A6-0230D48D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B6A2550A-ADCE-1483-8615-44B3A3C7FF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ASCA – v2</a:t>
            </a:r>
            <a:br>
              <a:rPr lang="en-US" dirty="0"/>
            </a:br>
            <a:r>
              <a:rPr lang="en-US" sz="1600" dirty="0"/>
              <a:t>Multi-task with Multi-branch Approach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85581246-B0E9-18F0-2E64-FF6091C52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3782187"/>
            <a:ext cx="8335186" cy="10317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</a:t>
            </a:r>
            <a:r>
              <a:rPr lang="en-US" sz="1200" dirty="0" err="1"/>
              <a:t>Softmax</a:t>
            </a:r>
            <a:r>
              <a:rPr lang="en-US" sz="1200" dirty="0"/>
              <a:t> function is applied here to get the probability distribution over the 4 polarity classes directly without converting them into one-hot vectors. </a:t>
            </a:r>
            <a:endParaRPr lang="vi-VN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Therefore, the </a:t>
            </a:r>
            <a:r>
              <a:rPr lang="en-US" sz="1200" dirty="0" err="1"/>
              <a:t>categorical_cross_entropy</a:t>
            </a:r>
            <a:r>
              <a:rPr lang="en-US" sz="1200" dirty="0"/>
              <a:t> loss function will be used to treat each Dense layer as a multi-class classification problem.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51C34EA6-C9A8-D9B1-E760-198F9D8268CD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2AE24068-A7A8-2F90-7711-543DF9EACD61}"/>
              </a:ext>
            </a:extLst>
          </p:cNvPr>
          <p:cNvCxnSpPr>
            <a:cxnSpLocks/>
          </p:cNvCxnSpPr>
          <p:nvPr/>
        </p:nvCxnSpPr>
        <p:spPr>
          <a:xfrm>
            <a:off x="1834116" y="3685354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6E82709-E896-7AB5-DE21-AE2F39B3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53" y="1271215"/>
            <a:ext cx="6378493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1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682D5DFD-E74D-81F3-ED8A-67BD017E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41FEA62B-175B-FDFF-0815-C88B6AC0C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618664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 &amp;</a:t>
            </a:r>
            <a:br>
              <a:rPr lang="en-US" dirty="0"/>
            </a:br>
            <a:r>
              <a:rPr lang="en-US" dirty="0"/>
              <a:t>Result 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355C6E2C-D539-8A79-B2ED-E8F36C50ED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1D6B99C5-0206-3E35-DED5-A3363DDA3C55}"/>
              </a:ext>
            </a:extLst>
          </p:cNvPr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Hộp Văn bản 33">
            <a:extLst>
              <a:ext uri="{FF2B5EF4-FFF2-40B4-BE49-F238E27FC236}">
                <a16:creationId xmlns:a16="http://schemas.microsoft.com/office/drawing/2014/main" id="{3D9C21F8-3CA8-9740-F7FC-22200BF501C3}"/>
              </a:ext>
            </a:extLst>
          </p:cNvPr>
          <p:cNvSpPr txBox="1"/>
          <p:nvPr/>
        </p:nvSpPr>
        <p:spPr>
          <a:xfrm>
            <a:off x="6602817" y="3397434"/>
            <a:ext cx="2464224" cy="1071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ACSA - v1</a:t>
            </a:r>
            <a:endParaRPr lang="vi-V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vi-VN" sz="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ACSA – v2</a:t>
            </a:r>
            <a:endParaRPr lang="vi-V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vi-VN" sz="5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" name="Google Shape;209;p43">
            <a:extLst>
              <a:ext uri="{FF2B5EF4-FFF2-40B4-BE49-F238E27FC236}">
                <a16:creationId xmlns:a16="http://schemas.microsoft.com/office/drawing/2014/main" id="{44988ED3-336C-95EA-78CE-9723D6017103}"/>
              </a:ext>
            </a:extLst>
          </p:cNvPr>
          <p:cNvCxnSpPr>
            <a:cxnSpLocks/>
          </p:cNvCxnSpPr>
          <p:nvPr/>
        </p:nvCxnSpPr>
        <p:spPr>
          <a:xfrm flipH="1">
            <a:off x="6496493" y="3255994"/>
            <a:ext cx="264750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8" name="Google Shape;209;p43">
            <a:extLst>
              <a:ext uri="{FF2B5EF4-FFF2-40B4-BE49-F238E27FC236}">
                <a16:creationId xmlns:a16="http://schemas.microsoft.com/office/drawing/2014/main" id="{F93C543E-1872-06C8-BA50-841E512CFE39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95822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BCD14FAD-245B-4889-866B-F80392E1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E874C91E-6D08-F899-6856-03EF3C8C3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50" y="2152034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5.1 Experimental Setup</a:t>
            </a:r>
            <a:endParaRPr sz="2800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19A2AC33-E674-30A7-30FD-469C3658869E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83B62838-8589-A5DC-32BA-BA17C795A548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8C49AD-0F25-2D63-CD9D-0EA4633D7694}"/>
                  </a:ext>
                </a:extLst>
              </p14:cNvPr>
              <p14:cNvContentPartPr/>
              <p14:nvPr/>
            </p14:nvContentPartPr>
            <p14:xfrm>
              <a:off x="4603923" y="273759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8C49AD-0F25-2D63-CD9D-0EA4633D76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7803" y="27314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5925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35AFB7C-7548-6E22-DC56-A1A64504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A5DCEB44-9E6E-B7FF-C56E-4D2C9A175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60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5.1. Experimental Setup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7FEE166F-12E2-59FE-CE26-483F3487E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3" y="1717159"/>
            <a:ext cx="8446827" cy="3129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experiments were conducted on the </a:t>
            </a:r>
            <a:r>
              <a:rPr lang="en-US" sz="1200" i="1" dirty="0"/>
              <a:t>VLSP 2018 ABSA</a:t>
            </a:r>
            <a:r>
              <a:rPr lang="en-US" sz="1200" dirty="0"/>
              <a:t> dataset (Hotel domain). The dataset comprises:</a:t>
            </a:r>
          </a:p>
          <a:p>
            <a:pPr marL="628650" lvl="1" indent="-171450"/>
            <a:r>
              <a:rPr lang="en-US" sz="1200" dirty="0"/>
              <a:t>Training set: 3,000 reviews with 13,948 </a:t>
            </a:r>
            <a:r>
              <a:rPr lang="en-US" sz="1200" b="1" i="1" dirty="0">
                <a:latin typeface="+mj-lt"/>
              </a:rPr>
              <a:t>Aspect# Category</a:t>
            </a:r>
            <a:r>
              <a:rPr lang="en-US" sz="1200" dirty="0"/>
              <a:t>, Polarity annotations.</a:t>
            </a:r>
          </a:p>
          <a:p>
            <a:pPr marL="628650" lvl="1" indent="-171450"/>
            <a:r>
              <a:rPr lang="en-US" sz="1200" dirty="0"/>
              <a:t>Development set: 2,000 reviews with 7,111 annotations.</a:t>
            </a:r>
          </a:p>
          <a:p>
            <a:pPr marL="628650" lvl="1" indent="-171450"/>
            <a:r>
              <a:rPr lang="en-US" sz="1200" dirty="0"/>
              <a:t>Test set: 600 reviews with 2,584 annotations.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1F5C2933-48D4-2A90-F588-34C201585FBE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700D4DAD-D19A-DF05-E2B2-284C92446770}"/>
              </a:ext>
            </a:extLst>
          </p:cNvPr>
          <p:cNvCxnSpPr>
            <a:cxnSpLocks/>
          </p:cNvCxnSpPr>
          <p:nvPr/>
        </p:nvCxnSpPr>
        <p:spPr>
          <a:xfrm>
            <a:off x="1834116" y="1495047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60863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36FE31B-C8D8-0F35-3BEE-A50FC1C7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24788726-025E-9C96-A81F-DA232095C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60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5.1. Experimental Setup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93994EF2-5A69-7049-1F98-76F9F3BA0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1283097"/>
            <a:ext cx="8446827" cy="3129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Hotel domain includes 34 distinct </a:t>
            </a:r>
            <a:r>
              <a:rPr lang="en-US" sz="1200" b="1" i="1" dirty="0">
                <a:latin typeface="+mj-lt"/>
              </a:rPr>
              <a:t>Aspect# Category </a:t>
            </a:r>
            <a:r>
              <a:rPr lang="en-US" sz="1200" dirty="0"/>
              <a:t>pairs. For model training and evaluation, the following configurations were employed:</a:t>
            </a:r>
          </a:p>
          <a:p>
            <a:pPr marL="628650" lvl="1" indent="-171450"/>
            <a:r>
              <a:rPr lang="en-US" sz="1200" b="1" dirty="0"/>
              <a:t>Pre-trained model</a:t>
            </a:r>
            <a:r>
              <a:rPr lang="en-US" sz="1200" dirty="0"/>
              <a:t>: </a:t>
            </a:r>
            <a:r>
              <a:rPr lang="en-US" sz="1200" dirty="0" err="1"/>
              <a:t>PhoBERT</a:t>
            </a:r>
            <a:r>
              <a:rPr lang="en-US" sz="1200" dirty="0"/>
              <a:t>.</a:t>
            </a:r>
          </a:p>
          <a:p>
            <a:pPr marL="628650" lvl="1" indent="-171450"/>
            <a:r>
              <a:rPr lang="en-US" sz="1200" b="1" dirty="0"/>
              <a:t>Input sequence length</a:t>
            </a:r>
            <a:r>
              <a:rPr lang="en-US" sz="1200" dirty="0"/>
              <a:t>: 256 tokens.</a:t>
            </a:r>
          </a:p>
          <a:p>
            <a:pPr marL="628650" lvl="1" indent="-171450"/>
            <a:r>
              <a:rPr lang="en-US" sz="1200" b="1" dirty="0"/>
              <a:t>Batch size</a:t>
            </a:r>
            <a:r>
              <a:rPr lang="en-US" sz="1200" dirty="0"/>
              <a:t>: 20.</a:t>
            </a:r>
          </a:p>
          <a:p>
            <a:pPr marL="628650" lvl="1" indent="-171450"/>
            <a:r>
              <a:rPr lang="en-US" sz="1200" b="1" dirty="0"/>
              <a:t>Number of epochs</a:t>
            </a:r>
            <a:r>
              <a:rPr lang="en-US" sz="1200" dirty="0"/>
              <a:t>: 20, with early stopping applied.</a:t>
            </a:r>
          </a:p>
          <a:p>
            <a:pPr marL="628650" lvl="1" indent="-171450"/>
            <a:r>
              <a:rPr lang="en-US" sz="1200" b="1" dirty="0"/>
              <a:t>Optimizer</a:t>
            </a:r>
            <a:r>
              <a:rPr lang="en-US" sz="1200" dirty="0"/>
              <a:t>: </a:t>
            </a:r>
            <a:r>
              <a:rPr lang="en-US" sz="1200" dirty="0" err="1"/>
              <a:t>AdamW</a:t>
            </a:r>
            <a:r>
              <a:rPr lang="en-US" sz="1200" dirty="0"/>
              <a:t>.</a:t>
            </a:r>
          </a:p>
          <a:p>
            <a:pPr marL="628650" lvl="1" indent="-171450"/>
            <a:r>
              <a:rPr lang="en-US" sz="1200" b="1" dirty="0"/>
              <a:t>Learning rate schedule</a:t>
            </a:r>
            <a:r>
              <a:rPr lang="en-US" sz="1200" dirty="0"/>
              <a:t>: Linear decay with a warm-up phase covering 10% of the total steps.</a:t>
            </a:r>
          </a:p>
          <a:p>
            <a:pPr marL="628650" lvl="1" indent="-171450"/>
            <a:r>
              <a:rPr lang="en-US" sz="1200" b="1" dirty="0"/>
              <a:t>Initial learning rate</a:t>
            </a:r>
            <a:r>
              <a:rPr lang="en-US" sz="1200" dirty="0"/>
              <a:t>: 2 × 10−4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7AC479A1-AD71-AB3A-9A04-6B3679E42887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6B8B91E4-27C1-ADDB-B04F-92AED0EC6789}"/>
              </a:ext>
            </a:extLst>
          </p:cNvPr>
          <p:cNvCxnSpPr>
            <a:cxnSpLocks/>
          </p:cNvCxnSpPr>
          <p:nvPr/>
        </p:nvCxnSpPr>
        <p:spPr>
          <a:xfrm>
            <a:off x="1834116" y="1138620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39427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D0E880DD-1FB6-2F5C-15A1-11187E04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20DCB85B-5459-EE65-412B-D7739B3C3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49" y="2152034"/>
            <a:ext cx="6132045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5.2 Result on the Hotel Domain</a:t>
            </a:r>
            <a:endParaRPr sz="2800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DA86E72C-00B2-2D4A-139B-73167A9D2AD0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D586415E-3500-7AF9-A730-440E94EEFADB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9BF32A-B455-7892-9385-8C4E6EC2CBF1}"/>
                  </a:ext>
                </a:extLst>
              </p14:cNvPr>
              <p14:cNvContentPartPr/>
              <p14:nvPr/>
            </p14:nvContentPartPr>
            <p14:xfrm>
              <a:off x="4603923" y="273759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9BF32A-B455-7892-9385-8C4E6EC2CB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7803" y="27314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0993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351B2F5-BFAE-E73A-C680-57AA1040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EEA2F85-A5F1-905D-73B0-9A263A0D0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60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5.2. </a:t>
            </a:r>
            <a:r>
              <a:rPr lang="en-US" sz="2400" dirty="0"/>
              <a:t>Result on the Hotel Domain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5B756AA4-2B42-2ABF-349B-96588058C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1573619"/>
            <a:ext cx="8446827" cy="3129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models were evaluated on two tasks: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b="1" dirty="0">
                <a:solidFill>
                  <a:srgbClr val="FFAB40"/>
                </a:solidFill>
              </a:rPr>
              <a:t>Aspect Category Detection (ACD): </a:t>
            </a:r>
            <a:r>
              <a:rPr lang="en-US" sz="1200" dirty="0"/>
              <a:t>Identifying the presence of specific </a:t>
            </a:r>
            <a:r>
              <a:rPr lang="en-US" sz="1200" b="1" i="1" dirty="0" err="1">
                <a:latin typeface="+mj-lt"/>
              </a:rPr>
              <a:t>Aspect#Category</a:t>
            </a:r>
            <a:r>
              <a:rPr lang="en-US" sz="1200" b="1" i="1" dirty="0">
                <a:latin typeface="+mj-lt"/>
              </a:rPr>
              <a:t> </a:t>
            </a:r>
            <a:r>
              <a:rPr lang="en-US" sz="1200" dirty="0"/>
              <a:t>pairs in reviews.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b="1" dirty="0">
                <a:solidFill>
                  <a:srgbClr val="FFAB40"/>
                </a:solidFill>
              </a:rPr>
              <a:t>Aspect Category Detection with Sentiment Polarity Classification (ACD + SPC): </a:t>
            </a:r>
            <a:r>
              <a:rPr lang="en-US" sz="1200" dirty="0"/>
              <a:t>Identifying </a:t>
            </a:r>
            <a:r>
              <a:rPr lang="en-US" sz="1200" b="1" i="1" dirty="0">
                <a:latin typeface="+mj-lt"/>
              </a:rPr>
              <a:t>Aspect# Category </a:t>
            </a:r>
            <a:r>
              <a:rPr lang="en-US" sz="1200" dirty="0"/>
              <a:t>pairs along with their associated sentiment polarity (</a:t>
            </a:r>
            <a:r>
              <a:rPr lang="en-US" sz="1200" i="1" dirty="0"/>
              <a:t>Positive</a:t>
            </a:r>
            <a:r>
              <a:rPr lang="en-US" sz="1200" dirty="0"/>
              <a:t>, </a:t>
            </a:r>
            <a:r>
              <a:rPr lang="en-US" sz="1200" i="1" dirty="0"/>
              <a:t>Negative</a:t>
            </a:r>
            <a:r>
              <a:rPr lang="en-US" sz="1200" dirty="0"/>
              <a:t>, </a:t>
            </a:r>
            <a:r>
              <a:rPr lang="en-US" sz="1200" i="1" dirty="0"/>
              <a:t>Neutral</a:t>
            </a:r>
            <a:r>
              <a:rPr lang="en-US" sz="1200" dirty="0"/>
              <a:t>).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200" dirty="0"/>
              <a:t>The evaluation metric used was the micro F1-score, Precision and Recall.</a:t>
            </a: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4EBD2077-8AF0-CC21-B3C4-51F189AC361B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01036B81-73FA-C64C-324D-CD542AA64525}"/>
              </a:ext>
            </a:extLst>
          </p:cNvPr>
          <p:cNvCxnSpPr>
            <a:cxnSpLocks/>
          </p:cNvCxnSpPr>
          <p:nvPr/>
        </p:nvCxnSpPr>
        <p:spPr>
          <a:xfrm>
            <a:off x="1834116" y="1362140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41246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9F2E370-1E25-FF26-376F-FFA5DC5AA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CDB1BA03-30B6-F197-938B-8516C668D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60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5.2. </a:t>
            </a:r>
            <a:r>
              <a:rPr lang="en-US" sz="2400" dirty="0"/>
              <a:t>Result on the Hotel Domain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C75CD822-CA56-94A0-52A0-FEA53DEB1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4412512"/>
            <a:ext cx="142799" cy="290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0C972A0B-89F2-FF74-AB6F-6D197B039DEE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FC9C5AD9-6368-43C7-2DDF-D1E7C34F17FE}"/>
              </a:ext>
            </a:extLst>
          </p:cNvPr>
          <p:cNvCxnSpPr>
            <a:cxnSpLocks/>
          </p:cNvCxnSpPr>
          <p:nvPr/>
        </p:nvCxnSpPr>
        <p:spPr>
          <a:xfrm>
            <a:off x="1834116" y="1181387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0A4B5E-7CA6-419C-01FC-8E299F270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559093"/>
              </p:ext>
            </p:extLst>
          </p:nvPr>
        </p:nvGraphicFramePr>
        <p:xfrm>
          <a:off x="707065" y="1287714"/>
          <a:ext cx="7846827" cy="3746803"/>
        </p:xfrm>
        <a:graphic>
          <a:graphicData uri="http://schemas.openxmlformats.org/drawingml/2006/table">
            <a:tbl>
              <a:tblPr firstRow="1" bandRow="1">
                <a:tableStyleId>{36AE7613-9113-4A95-8E20-C1F1D74075B2}</a:tableStyleId>
              </a:tblPr>
              <a:tblGrid>
                <a:gridCol w="1796902">
                  <a:extLst>
                    <a:ext uri="{9D8B030D-6E8A-4147-A177-3AD203B41FA5}">
                      <a16:colId xmlns:a16="http://schemas.microsoft.com/office/drawing/2014/main" val="3694047068"/>
                    </a:ext>
                  </a:extLst>
                </a:gridCol>
                <a:gridCol w="2525233">
                  <a:extLst>
                    <a:ext uri="{9D8B030D-6E8A-4147-A177-3AD203B41FA5}">
                      <a16:colId xmlns:a16="http://schemas.microsoft.com/office/drawing/2014/main" val="3281195699"/>
                    </a:ext>
                  </a:extLst>
                </a:gridCol>
                <a:gridCol w="1297172">
                  <a:extLst>
                    <a:ext uri="{9D8B030D-6E8A-4147-A177-3AD203B41FA5}">
                      <a16:colId xmlns:a16="http://schemas.microsoft.com/office/drawing/2014/main" val="3502473222"/>
                    </a:ext>
                  </a:extLst>
                </a:gridCol>
                <a:gridCol w="1180214">
                  <a:extLst>
                    <a:ext uri="{9D8B030D-6E8A-4147-A177-3AD203B41FA5}">
                      <a16:colId xmlns:a16="http://schemas.microsoft.com/office/drawing/2014/main" val="3784852409"/>
                    </a:ext>
                  </a:extLst>
                </a:gridCol>
                <a:gridCol w="1047306">
                  <a:extLst>
                    <a:ext uri="{9D8B030D-6E8A-4147-A177-3AD203B41FA5}">
                      <a16:colId xmlns:a16="http://schemas.microsoft.com/office/drawing/2014/main" val="2708649858"/>
                    </a:ext>
                  </a:extLst>
                </a:gridCol>
              </a:tblGrid>
              <a:tr h="337392"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AB4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Task</a:t>
                      </a:r>
                      <a:endParaRPr lang="en-US" sz="1300" b="1" dirty="0">
                        <a:solidFill>
                          <a:srgbClr val="FFAB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AB4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Method</a:t>
                      </a:r>
                      <a:endParaRPr lang="en-US" sz="1300" b="1" dirty="0">
                        <a:solidFill>
                          <a:srgbClr val="FFAB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AB4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Precision</a:t>
                      </a:r>
                      <a:endParaRPr lang="en-US" sz="1300" b="1" dirty="0">
                        <a:solidFill>
                          <a:srgbClr val="FFAB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AB4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Recall</a:t>
                      </a:r>
                      <a:endParaRPr lang="en-US" sz="1300" b="1" dirty="0">
                        <a:solidFill>
                          <a:srgbClr val="FFAB4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AB4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F1-score</a:t>
                      </a:r>
                      <a:endParaRPr lang="en-US" sz="1300" b="1" dirty="0">
                        <a:solidFill>
                          <a:srgbClr val="FFAB4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65277"/>
                  </a:ext>
                </a:extLst>
              </a:tr>
              <a:tr h="291680">
                <a:tc rowSpan="5"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Aspect# Category</a:t>
                      </a:r>
                      <a:endParaRPr 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VLSP best submission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76.00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66.00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70.00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424070"/>
                  </a:ext>
                </a:extLst>
              </a:tr>
              <a:tr h="3927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Bi-LSTM+CNN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84.03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72.52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77.85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982636"/>
                  </a:ext>
                </a:extLst>
              </a:tr>
              <a:tr h="2916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BERT-based Hierarchical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82.55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995216"/>
                  </a:ext>
                </a:extLst>
              </a:tr>
              <a:tr h="2916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Multi-task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87.45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78.17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82.55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02849"/>
                  </a:ext>
                </a:extLst>
              </a:tr>
              <a:tr h="2916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Multi-task Multi-branch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63.21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57.86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60.42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71259"/>
                  </a:ext>
                </a:extLst>
              </a:tr>
              <a:tr h="291680">
                <a:tc rowSpan="5"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 Aspect# Category, Polarity</a:t>
                      </a:r>
                      <a:endParaRPr 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VLSP best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66.00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57.00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61.00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791646"/>
                  </a:ext>
                </a:extLst>
              </a:tr>
              <a:tr h="2916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Bi-LSTM+CNN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76.53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66.04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70.90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095920"/>
                  </a:ext>
                </a:extLst>
              </a:tr>
              <a:tr h="2916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BERT-based 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74.69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881911"/>
                  </a:ext>
                </a:extLst>
              </a:tr>
              <a:tr h="49585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Multi-task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81.90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73.22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77.32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976682"/>
                  </a:ext>
                </a:extLst>
              </a:tr>
              <a:tr h="47899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Multi-task Multi-branch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57.55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52.67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55.00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47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310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BEAC6577-0A10-3856-31B2-A357619D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4F465F53-012C-77E6-B653-BA74E2E80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2029" y="3633983"/>
            <a:ext cx="3618664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Improvement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14340B5E-37AC-04D7-C7AF-1547B30000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520032" y="3473569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8F14B104-372A-CD30-9E4D-111C7D46B1F5}"/>
              </a:ext>
            </a:extLst>
          </p:cNvPr>
          <p:cNvCxnSpPr/>
          <p:nvPr/>
        </p:nvCxnSpPr>
        <p:spPr>
          <a:xfrm>
            <a:off x="2042448" y="3439366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" name="Google Shape;209;p43">
            <a:extLst>
              <a:ext uri="{FF2B5EF4-FFF2-40B4-BE49-F238E27FC236}">
                <a16:creationId xmlns:a16="http://schemas.microsoft.com/office/drawing/2014/main" id="{845AAADA-6B95-AA75-F775-62E35FF9671D}"/>
              </a:ext>
            </a:extLst>
          </p:cNvPr>
          <p:cNvCxnSpPr>
            <a:cxnSpLocks/>
          </p:cNvCxnSpPr>
          <p:nvPr/>
        </p:nvCxnSpPr>
        <p:spPr>
          <a:xfrm flipH="1">
            <a:off x="6496493" y="3255994"/>
            <a:ext cx="264750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8" name="Google Shape;209;p43">
            <a:extLst>
              <a:ext uri="{FF2B5EF4-FFF2-40B4-BE49-F238E27FC236}">
                <a16:creationId xmlns:a16="http://schemas.microsoft.com/office/drawing/2014/main" id="{A87C23E2-FDE1-668D-C662-713946BA76ED}"/>
              </a:ext>
            </a:extLst>
          </p:cNvPr>
          <p:cNvCxnSpPr>
            <a:cxnSpLocks/>
          </p:cNvCxnSpPr>
          <p:nvPr/>
        </p:nvCxnSpPr>
        <p:spPr>
          <a:xfrm flipH="1">
            <a:off x="0" y="4618247"/>
            <a:ext cx="576284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72914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1511EE8-55A3-1311-DB01-C2563A9E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DF53C831-4F81-67A6-8268-B5BB6CA53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3" y="387029"/>
            <a:ext cx="7232557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Back-Translation for Data Augmentation</a:t>
            </a:r>
            <a:endParaRPr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6B087A45-1142-4B12-EC9E-78E3728F4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145" y="2820740"/>
            <a:ext cx="3741348" cy="1709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sz="1200" dirty="0"/>
          </a:p>
          <a:p>
            <a:pPr marL="171450" indent="-171450" algn="just">
              <a:lnSpc>
                <a:spcPct val="150000"/>
              </a:lnSpc>
            </a:pPr>
            <a:r>
              <a:rPr lang="en-US" sz="1200" u="sng" dirty="0"/>
              <a:t>Method: </a:t>
            </a:r>
            <a:r>
              <a:rPr lang="en-US" sz="1200" dirty="0"/>
              <a:t>Translate reviews Vietnamese → English → Vietnamese using </a:t>
            </a:r>
            <a:r>
              <a:rPr lang="en-US" sz="1200" dirty="0" err="1"/>
              <a:t>MarianMT</a:t>
            </a:r>
            <a:r>
              <a:rPr lang="en-US" sz="1200" dirty="0"/>
              <a:t>:</a:t>
            </a:r>
          </a:p>
          <a:p>
            <a:pPr marL="628650" lvl="1" indent="-171450" algn="just"/>
            <a:r>
              <a:rPr lang="en-US" sz="1200" dirty="0"/>
              <a:t>Models: opus-mt-vi-</a:t>
            </a:r>
            <a:r>
              <a:rPr lang="en-US" sz="1200" dirty="0" err="1"/>
              <a:t>en</a:t>
            </a:r>
            <a:r>
              <a:rPr lang="en-US" sz="1200" dirty="0"/>
              <a:t>, opus-mt-</a:t>
            </a:r>
            <a:r>
              <a:rPr lang="en-US" sz="1200" dirty="0" err="1"/>
              <a:t>en</a:t>
            </a:r>
            <a:r>
              <a:rPr lang="en-US" sz="1200" dirty="0"/>
              <a:t>-vi</a:t>
            </a:r>
          </a:p>
          <a:p>
            <a:pPr marL="628650" lvl="1" indent="-171450" algn="just"/>
            <a:r>
              <a:rPr lang="en-US" sz="1200" dirty="0"/>
              <a:t>Selected ~7% of original training set (≈ 200/3000 reviews)</a:t>
            </a:r>
            <a:endParaRPr lang="vi-VN" sz="1200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1200" dirty="0"/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749088A4-5546-BC62-2FCE-304D6238E244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7399E1FB-B1B2-D5DF-513A-CAC5D5A30949}"/>
              </a:ext>
            </a:extLst>
          </p:cNvPr>
          <p:cNvCxnSpPr>
            <a:cxnSpLocks/>
          </p:cNvCxnSpPr>
          <p:nvPr/>
        </p:nvCxnSpPr>
        <p:spPr>
          <a:xfrm>
            <a:off x="1772240" y="857729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0" name="AutoShape 9">
            <a:extLst>
              <a:ext uri="{FF2B5EF4-FFF2-40B4-BE49-F238E27FC236}">
                <a16:creationId xmlns:a16="http://schemas.microsoft.com/office/drawing/2014/main" id="{793EC755-0A1C-B99C-4FC7-8FD3DE05B5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F506C1DE-0D7E-7468-FE6D-FB1910C834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Google Shape;171;p39">
            <a:extLst>
              <a:ext uri="{FF2B5EF4-FFF2-40B4-BE49-F238E27FC236}">
                <a16:creationId xmlns:a16="http://schemas.microsoft.com/office/drawing/2014/main" id="{5BB0ED82-7B2A-CD18-2F17-890779AF8D46}"/>
              </a:ext>
            </a:extLst>
          </p:cNvPr>
          <p:cNvSpPr txBox="1">
            <a:spLocks/>
          </p:cNvSpPr>
          <p:nvPr/>
        </p:nvSpPr>
        <p:spPr>
          <a:xfrm>
            <a:off x="4177963" y="3038023"/>
            <a:ext cx="5183751" cy="2463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1625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71450" indent="-171450">
              <a:lnSpc>
                <a:spcPct val="150000"/>
              </a:lnSpc>
            </a:pPr>
            <a:r>
              <a:rPr lang="en-US" sz="1200" u="sng" dirty="0"/>
              <a:t>Result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Training data: ↑ from 3,000 to ~3,200</a:t>
            </a:r>
          </a:p>
          <a:p>
            <a:pPr marL="628650" lvl="1" indent="-171450">
              <a:lnSpc>
                <a:spcPct val="150000"/>
              </a:lnSpc>
            </a:pPr>
            <a:r>
              <a:rPr lang="it-IT" sz="1200" dirty="0"/>
              <a:t>+1% improvement in micro F1-score </a:t>
            </a:r>
            <a:r>
              <a:rPr lang="vi-VN" sz="1200" dirty="0"/>
              <a:t>(</a:t>
            </a:r>
            <a:r>
              <a:rPr lang="it-IT" sz="1200" dirty="0"/>
              <a:t>0.7255-&gt;0.</a:t>
            </a:r>
            <a:r>
              <a:rPr lang="vi-VN" sz="1200" dirty="0"/>
              <a:t>7378)</a:t>
            </a:r>
            <a:endParaRPr lang="it-IT" sz="1200" dirty="0"/>
          </a:p>
          <a:p>
            <a:pPr marL="628650" lvl="1" indent="-171450">
              <a:lnSpc>
                <a:spcPct val="150000"/>
              </a:lnSpc>
            </a:pPr>
            <a:r>
              <a:rPr lang="en-US" sz="1200" dirty="0"/>
              <a:t>Better handling of rare aspect-polarity pairs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A4113EE2-615A-46E7-DEA3-3AC7D682F3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1EC34282-ED79-52DC-27C7-69456ADE7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174290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7FB1F1-A503-C380-F85F-85717F80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386" y="999311"/>
            <a:ext cx="5325117" cy="1890848"/>
          </a:xfrm>
          <a:prstGeom prst="rect">
            <a:avLst/>
          </a:prstGeom>
        </p:spPr>
      </p:pic>
      <p:sp>
        <p:nvSpPr>
          <p:cNvPr id="15" name="Google Shape;171;p39">
            <a:extLst>
              <a:ext uri="{FF2B5EF4-FFF2-40B4-BE49-F238E27FC236}">
                <a16:creationId xmlns:a16="http://schemas.microsoft.com/office/drawing/2014/main" id="{17A3AA4C-5180-1798-636F-705FA8BD87F5}"/>
              </a:ext>
            </a:extLst>
          </p:cNvPr>
          <p:cNvSpPr txBox="1">
            <a:spLocks/>
          </p:cNvSpPr>
          <p:nvPr/>
        </p:nvSpPr>
        <p:spPr>
          <a:xfrm>
            <a:off x="217855" y="1492312"/>
            <a:ext cx="2946260" cy="139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●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1625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Montserrat"/>
              <a:buChar char="○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1625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Font typeface="Montserrat"/>
              <a:buChar char="■"/>
              <a:defRPr sz="115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71450" indent="-171450" algn="just">
              <a:lnSpc>
                <a:spcPct val="150000"/>
              </a:lnSpc>
            </a:pPr>
            <a:r>
              <a:rPr lang="en-US" sz="1200" u="sng" dirty="0"/>
              <a:t>Goal:</a:t>
            </a:r>
            <a:r>
              <a:rPr lang="en-US" sz="1200" dirty="0"/>
              <a:t> Increase lexical diversity &amp; generalization without modifying model architecture</a:t>
            </a:r>
            <a:r>
              <a:rPr lang="vi-VN" sz="1200" dirty="0"/>
              <a:t> and </a:t>
            </a:r>
            <a:r>
              <a:rPr lang="en-US" sz="1200" dirty="0"/>
              <a:t>partially address data </a:t>
            </a:r>
            <a:r>
              <a:rPr lang="vi-VN" sz="1200" dirty="0"/>
              <a:t>imbalance.</a:t>
            </a:r>
            <a:endParaRPr lang="en-US" sz="1200" dirty="0"/>
          </a:p>
          <a:p>
            <a:pPr marL="171450" indent="-171450" algn="just"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64537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DB822B1-5DFE-37A5-5ADB-00966505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6C394F6D-63E8-CDB4-E3EB-100DBBCA6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54" y="387029"/>
            <a:ext cx="5735700" cy="60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Conclusion</a:t>
            </a:r>
            <a:endParaRPr sz="2800" dirty="0"/>
          </a:p>
        </p:txBody>
      </p:sp>
      <p:sp>
        <p:nvSpPr>
          <p:cNvPr id="171" name="Google Shape;171;p39">
            <a:extLst>
              <a:ext uri="{FF2B5EF4-FFF2-40B4-BE49-F238E27FC236}">
                <a16:creationId xmlns:a16="http://schemas.microsoft.com/office/drawing/2014/main" id="{11F3572B-6F89-3B23-2724-9242C13C31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154" y="1637415"/>
            <a:ext cx="8154432" cy="3065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200" dirty="0"/>
              <a:t>The experimental results on the VLSP 2018 ABSA Hotel dataset highlight the effectiveness of our proposed Multi-task learning approach based on </a:t>
            </a:r>
            <a:r>
              <a:rPr lang="en-US" sz="1200" dirty="0" err="1"/>
              <a:t>PhoBERT</a:t>
            </a:r>
            <a:r>
              <a:rPr lang="en-US" sz="1200" dirty="0"/>
              <a:t>.</a:t>
            </a:r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The model achieved the highest performance across two main tasks:</a:t>
            </a:r>
          </a:p>
          <a:p>
            <a:pPr marL="628650" lvl="1" indent="-171450"/>
            <a:r>
              <a:rPr lang="en-US" sz="1200" b="1" dirty="0">
                <a:solidFill>
                  <a:srgbClr val="FFAB40"/>
                </a:solidFill>
              </a:rPr>
              <a:t>Aspect Category Detection (ACD): </a:t>
            </a:r>
            <a:r>
              <a:rPr lang="en-US" sz="1200" dirty="0">
                <a:solidFill>
                  <a:schemeClr val="bg1"/>
                </a:solidFill>
              </a:rPr>
              <a:t>82.55% F1-score</a:t>
            </a:r>
          </a:p>
          <a:p>
            <a:pPr marL="628650" lvl="1" indent="-171450"/>
            <a:r>
              <a:rPr lang="en-US" sz="1200" b="1" dirty="0">
                <a:solidFill>
                  <a:srgbClr val="FFAB40"/>
                </a:solidFill>
              </a:rPr>
              <a:t>ACD with Sentiment Polarity Classification (ACD + SPC): </a:t>
            </a:r>
            <a:r>
              <a:rPr lang="en-US" sz="1200" dirty="0">
                <a:solidFill>
                  <a:schemeClr val="bg1"/>
                </a:solidFill>
              </a:rPr>
              <a:t>77.32% F1-score </a:t>
            </a:r>
          </a:p>
          <a:p>
            <a:pPr marL="171450" indent="-171450">
              <a:lnSpc>
                <a:spcPct val="150000"/>
              </a:lnSpc>
            </a:pPr>
            <a:endParaRPr lang="en-US" sz="1200" dirty="0"/>
          </a:p>
          <a:p>
            <a:pPr marL="171450" indent="-171450">
              <a:lnSpc>
                <a:spcPct val="150000"/>
              </a:lnSpc>
            </a:pPr>
            <a:r>
              <a:rPr lang="en-US" sz="1200" dirty="0"/>
              <a:t>In summary, the combination of </a:t>
            </a:r>
            <a:r>
              <a:rPr lang="en-US" sz="1200" dirty="0" err="1"/>
              <a:t>PhoBERT</a:t>
            </a:r>
            <a:r>
              <a:rPr lang="en-US" sz="1200" dirty="0"/>
              <a:t> and multi-task learning not only improves the accuracy of aspect-level sentiment analysis but also demonstrates strong generalizability across </a:t>
            </a:r>
            <a:r>
              <a:rPr lang="en-US" sz="1200" dirty="0" err="1"/>
              <a:t>finegrained</a:t>
            </a:r>
            <a:r>
              <a:rPr lang="en-US" sz="1200" dirty="0"/>
              <a:t> classification tasks.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72" name="Google Shape;172;p39">
            <a:extLst>
              <a:ext uri="{FF2B5EF4-FFF2-40B4-BE49-F238E27FC236}">
                <a16:creationId xmlns:a16="http://schemas.microsoft.com/office/drawing/2014/main" id="{4955CF10-640E-0BD1-CD34-6C36A6CA404E}"/>
              </a:ext>
            </a:extLst>
          </p:cNvPr>
          <p:cNvCxnSpPr/>
          <p:nvPr/>
        </p:nvCxnSpPr>
        <p:spPr>
          <a:xfrm>
            <a:off x="561588" y="32944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5" name="Google Shape;172;p39">
            <a:extLst>
              <a:ext uri="{FF2B5EF4-FFF2-40B4-BE49-F238E27FC236}">
                <a16:creationId xmlns:a16="http://schemas.microsoft.com/office/drawing/2014/main" id="{F18A3F90-5164-C0C9-A522-F59856F32FEB}"/>
              </a:ext>
            </a:extLst>
          </p:cNvPr>
          <p:cNvCxnSpPr>
            <a:cxnSpLocks/>
          </p:cNvCxnSpPr>
          <p:nvPr/>
        </p:nvCxnSpPr>
        <p:spPr>
          <a:xfrm>
            <a:off x="1834116" y="1255815"/>
            <a:ext cx="7309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98974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BF2D8BB8-FD26-DB3E-7877-6130437D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>
            <a:extLst>
              <a:ext uri="{FF2B5EF4-FFF2-40B4-BE49-F238E27FC236}">
                <a16:creationId xmlns:a16="http://schemas.microsoft.com/office/drawing/2014/main" id="{1400932F-2FD0-184C-06AD-80E0A8E61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149" y="2152034"/>
            <a:ext cx="6132045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Thank you for listening!</a:t>
            </a:r>
            <a:endParaRPr sz="3200" dirty="0"/>
          </a:p>
        </p:txBody>
      </p:sp>
      <p:cxnSp>
        <p:nvCxnSpPr>
          <p:cNvPr id="2" name="Google Shape;172;p39">
            <a:extLst>
              <a:ext uri="{FF2B5EF4-FFF2-40B4-BE49-F238E27FC236}">
                <a16:creationId xmlns:a16="http://schemas.microsoft.com/office/drawing/2014/main" id="{4CEF51F2-9289-A2FA-87FB-04CECD00939B}"/>
              </a:ext>
            </a:extLst>
          </p:cNvPr>
          <p:cNvCxnSpPr>
            <a:cxnSpLocks/>
          </p:cNvCxnSpPr>
          <p:nvPr/>
        </p:nvCxnSpPr>
        <p:spPr>
          <a:xfrm>
            <a:off x="3280144" y="3680038"/>
            <a:ext cx="5863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172;p39">
            <a:extLst>
              <a:ext uri="{FF2B5EF4-FFF2-40B4-BE49-F238E27FC236}">
                <a16:creationId xmlns:a16="http://schemas.microsoft.com/office/drawing/2014/main" id="{DC8F01FF-53C9-6FC2-453A-00219EDBD11A}"/>
              </a:ext>
            </a:extLst>
          </p:cNvPr>
          <p:cNvCxnSpPr>
            <a:cxnSpLocks/>
          </p:cNvCxnSpPr>
          <p:nvPr/>
        </p:nvCxnSpPr>
        <p:spPr>
          <a:xfrm>
            <a:off x="0" y="410526"/>
            <a:ext cx="72301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B5F7C9-1928-00AA-63FB-7F232E2DB846}"/>
                  </a:ext>
                </a:extLst>
              </p14:cNvPr>
              <p14:cNvContentPartPr/>
              <p14:nvPr/>
            </p14:nvContentPartPr>
            <p14:xfrm>
              <a:off x="4603923" y="273759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B5F7C9-1928-00AA-63FB-7F232E2DB8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7803" y="27314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928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1472</Words>
  <Application>Microsoft Office PowerPoint</Application>
  <PresentationFormat>On-screen Show (16:9)</PresentationFormat>
  <Paragraphs>228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Montserrat</vt:lpstr>
      <vt:lpstr>Montserrat ExtraBold</vt:lpstr>
      <vt:lpstr>Arial</vt:lpstr>
      <vt:lpstr>Montserrat ExtraLight</vt:lpstr>
      <vt:lpstr>Courier New</vt:lpstr>
      <vt:lpstr>Futuristic Background by Slidesgo</vt:lpstr>
      <vt:lpstr>Aspect-based Sentiment Analysis for Vietnamese</vt:lpstr>
      <vt:lpstr>01</vt:lpstr>
      <vt:lpstr>Introduction</vt:lpstr>
      <vt:lpstr>Introduction</vt:lpstr>
      <vt:lpstr>Related work</vt:lpstr>
      <vt:lpstr>BERT</vt:lpstr>
      <vt:lpstr>BERT</vt:lpstr>
      <vt:lpstr>RoBERTa</vt:lpstr>
      <vt:lpstr>RoBERTa</vt:lpstr>
      <vt:lpstr>RoBERTa</vt:lpstr>
      <vt:lpstr>PhoBERT</vt:lpstr>
      <vt:lpstr>PhoBERT</vt:lpstr>
      <vt:lpstr>Dataset</vt:lpstr>
      <vt:lpstr>Dataset</vt:lpstr>
      <vt:lpstr>Dataset Overview</vt:lpstr>
      <vt:lpstr>PowerPoint Presentation</vt:lpstr>
      <vt:lpstr>Model Architechture</vt:lpstr>
      <vt:lpstr>PowerPoint Presentation</vt:lpstr>
      <vt:lpstr>ASCA – v1 Multi-task Approach</vt:lpstr>
      <vt:lpstr>ASCA – v1 Multi-task Approach</vt:lpstr>
      <vt:lpstr>ASCA – v1 Multi-task Approach</vt:lpstr>
      <vt:lpstr>ASCA – v1 Multi-task Approach</vt:lpstr>
      <vt:lpstr>ASCA – v2 Multi-task with Multi-branch Approach</vt:lpstr>
      <vt:lpstr>ASCA – v2 Multi-task with Multi-branch Approach</vt:lpstr>
      <vt:lpstr>ASCA – v2 Multi-task with Multi-branch Approach</vt:lpstr>
      <vt:lpstr>Experiment &amp; Result </vt:lpstr>
      <vt:lpstr>5.1 Experimental Setup</vt:lpstr>
      <vt:lpstr>5.1. Experimental Setup</vt:lpstr>
      <vt:lpstr>5.1. Experimental Setup</vt:lpstr>
      <vt:lpstr>5.2 Result on the Hotel Domain</vt:lpstr>
      <vt:lpstr>5.2. Result on the Hotel Domain</vt:lpstr>
      <vt:lpstr>5.2. Result on the Hotel Domain</vt:lpstr>
      <vt:lpstr>Improvement</vt:lpstr>
      <vt:lpstr>Back-Translation for Data Augmentation</vt:lpstr>
      <vt:lpstr>Conclusion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Vu Hai Dang 20225962</cp:lastModifiedBy>
  <cp:revision>37</cp:revision>
  <dcterms:modified xsi:type="dcterms:W3CDTF">2025-06-02T07:19:27Z</dcterms:modified>
</cp:coreProperties>
</file>